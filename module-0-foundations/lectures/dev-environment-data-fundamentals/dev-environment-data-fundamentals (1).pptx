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1675"/>
  <p:notesSz cx="6858000" cy="9144000"/>
  <p:embeddedFontLst>
    <p:embeddedFont>
      <p:font typeface="Helvetica Neue"/>
      <p:regular r:id="rId34"/>
      <p:bold r:id="rId35"/>
      <p:italic r:id="rId36"/>
      <p:boldItalic r:id="rId37"/>
    </p:embeddedFon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1" Type="http://schemas.openxmlformats.org/officeDocument/2006/relationships/font" Target="fonts/RobotoMon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HelveticaNeue-bold.fntdata"/><Relationship Id="rId12" Type="http://schemas.openxmlformats.org/officeDocument/2006/relationships/slide" Target="slides/slide7.xml"/><Relationship Id="rId34" Type="http://schemas.openxmlformats.org/officeDocument/2006/relationships/font" Target="fonts/HelveticaNeue-regular.fntdata"/><Relationship Id="rId15" Type="http://schemas.openxmlformats.org/officeDocument/2006/relationships/slide" Target="slides/slide10.xml"/><Relationship Id="rId37" Type="http://schemas.openxmlformats.org/officeDocument/2006/relationships/font" Target="fonts/HelveticaNeue-boldItalic.fntdata"/><Relationship Id="rId14" Type="http://schemas.openxmlformats.org/officeDocument/2006/relationships/slide" Target="slides/slide9.xml"/><Relationship Id="rId36" Type="http://schemas.openxmlformats.org/officeDocument/2006/relationships/font" Target="fonts/HelveticaNeue-italic.fntdata"/><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Name the two things today accomplishes: (1) a working dev environment on their own machine, (2) the vocabulary (variable, data type, data structure) every later module assumes they already have. Nothing here is meant to be hard; it's meant to be solid.</a:t>
            </a:r>
            <a:endParaRPr/>
          </a:p>
          <a:p>
            <a:pPr indent="0" lvl="0" marL="0" rtl="0" algn="l">
              <a:spcBef>
                <a:spcPts val="0"/>
              </a:spcBef>
              <a:spcAft>
                <a:spcPts val="0"/>
              </a:spcAft>
              <a:buNone/>
            </a:pPr>
            <a:r>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Read these out loud. All three are foundational, not flashy — that's on purpose. Everything else in this program assumes you have this.</a:t>
            </a:r>
            <a:endParaRPr/>
          </a:p>
          <a:p>
            <a:pPr indent="0" lvl="0" marL="0" rtl="0" algn="l">
              <a:spcBef>
                <a:spcPts val="0"/>
              </a:spcBef>
              <a:spcAft>
                <a:spcPts val="0"/>
              </a:spcAft>
              <a:buNone/>
            </a:pPr>
            <a:r>
              <a:t/>
            </a:r>
            <a:endParaRPr/>
          </a:p>
        </p:txBody>
      </p:sp>
      <p:sp>
        <p:nvSpPr>
          <p:cNvPr id="98" name="Google Shape;9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[ARTICLE SUMMARY] In 2012, Knight Capital deployed new trading software to eight servers, but one server never received the update and still had old, dormant code left over from years earlier. A repurposed flag in the new code accidentally reactivated that old code, which began sending a flood of unintended stock orders the moment markets opened. Nobody caught the problem for 45 minutes, during which the system executed millions of erroneous trades across dozens of stocks. By the time it was manually shut down, Knight Capital had lost about $460 million and nearly collapsed the firm overnight. The SEC's subsequent order found Knight Capital violated the Market Access Rule by lacking adequate pre-trade risk controls and code-review procedures.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[SCRIPT] This isn't a scare story about terminals — it's about the exact habit today builds: checking your setup carefully before you rely on it, and reading what's actually in front of you instead of assuming. This is a real, extensively documented case, not illustrative.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[SOURCES] SEC Administrative Proceeding, Release No. 70694 (Oct. 16, 2013), In the Matter of Knight Capital Americas LLC: https://www.sec.gov/files/litigation/admin/2013/34-70694.pdf</a:t>
            </a:r>
            <a:endParaRPr/>
          </a:p>
          <a:p>
            <a:pPr indent="0" lvl="0" marL="0" rtl="0" algn="l">
              <a:spcBef>
                <a:spcPts val="0"/>
              </a:spcBef>
              <a:spcAft>
                <a:spcPts val="0"/>
              </a:spcAft>
              <a:buNone/>
            </a:pPr>
            <a:r>
              <a:t/>
            </a:r>
            <a:endParaRPr/>
          </a:p>
        </p:txBody>
      </p:sp>
      <p:sp>
        <p:nvSpPr>
          <p:cNvPr id="115" name="Google Shape;11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[~15 min mark] Short pivot from "why this matters" into actually getting your own machine ready — terminal, git, VS Code.</a:t>
            </a:r>
            <a:endParaRPr/>
          </a:p>
          <a:p>
            <a:pPr indent="0" lvl="0" marL="0" rtl="0" algn="l">
              <a:spcBef>
                <a:spcPts val="0"/>
              </a:spcBef>
              <a:spcAft>
                <a:spcPts val="0"/>
              </a:spcAft>
              <a:buNone/>
            </a:pPr>
            <a:r>
              <a:t/>
            </a:r>
            <a:endParaRPr/>
          </a:p>
        </p:txBody>
      </p:sp>
      <p:sp>
        <p:nvSpPr>
          <p:cNvPr id="134" name="Google Shape;13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Point at an actual terminal window and name each piece live, before running a single command in it — this is what you're looking at every time from here on. This "wall of text" fear is common and normal — most of it is just telling you where you are, the same way a map pin does.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Bash(image on left):  Windows </a:t>
            </a:r>
            <a:endParaRPr/>
          </a:p>
          <a:p>
            <a:pPr indent="0" lvl="0" marL="0" rtl="0" algn="l">
              <a:spcBef>
                <a:spcPts val="0"/>
              </a:spcBef>
              <a:spcAft>
                <a:spcPts val="0"/>
              </a:spcAft>
              <a:buNone/>
            </a:pPr>
            <a:r>
              <a:rPr lang="en-US"/>
              <a:t>Zsh (image on right):  Mac (most students) </a:t>
            </a:r>
            <a:endParaRPr/>
          </a:p>
          <a:p>
            <a:pPr indent="0" lvl="0" marL="0" rtl="0" algn="l">
              <a:spcBef>
                <a:spcPts val="0"/>
              </a:spcBef>
              <a:spcAft>
                <a:spcPts val="0"/>
              </a:spcAft>
              <a:buNone/>
            </a:pPr>
            <a:r>
              <a:t/>
            </a:r>
            <a:endParaRPr/>
          </a:p>
        </p:txBody>
      </p:sp>
      <p:sp>
        <p:nvSpPr>
          <p:cNvPr id="146" name="Google Shape;14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[SCOPE] Today only needs "what these are" and "confirm they're installed" - branches, commits, and the real collaboration workflow get fully covered in tomorrow's git &amp; GitHub lecture. Don't go deeper than this slide right now, even if someone asks a great question - note it and promise tomorrow.</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[SCRIPT] Name both tools plainly: git tracks every change to your code so you can undo, compare, or combine work safely - version control, a safety net. VS Code is the code editor most working analysts write and run code in day to day. Every working data analyst uses some version of this pair. Download links: git-scm.com/downloads and code.visualstudio.com/download.</a:t>
            </a:r>
            <a:endParaRPr/>
          </a:p>
          <a:p>
            <a:pPr indent="0" lvl="0" marL="0" rtl="0" algn="l">
              <a:spcBef>
                <a:spcPts val="0"/>
              </a:spcBef>
              <a:spcAft>
                <a:spcPts val="0"/>
              </a:spcAft>
              <a:buNone/>
            </a:pPr>
            <a:r>
              <a:t/>
            </a:r>
            <a:endParaRPr/>
          </a:p>
        </p:txBody>
      </p:sp>
      <p:sp>
        <p:nvSpPr>
          <p:cNvPr id="178" name="Google Shape;17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Everyone opens their own terminal now — this is hands-on, not a demo to watch.</a:t>
            </a:r>
            <a:endParaRPr/>
          </a:p>
          <a:p>
            <a:pPr indent="0" lvl="0" marL="0" rtl="0" algn="l">
              <a:spcBef>
                <a:spcPts val="0"/>
              </a:spcBef>
              <a:spcAft>
                <a:spcPts val="0"/>
              </a:spcAft>
              <a:buNone/>
            </a:pPr>
            <a:r>
              <a:t/>
            </a:r>
            <a:endParaRPr/>
          </a:p>
        </p:txBody>
      </p:sp>
      <p:sp>
        <p:nvSpPr>
          <p:cNvPr id="193" name="Google Shape;19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Run these live, on your own machine, right now, together. This is the whole point of today's environment-setup objective — a working setup you saw work, not one you're told works. The git identity check specifically matters: a fresh machine with git installed but no identity configured will hit a real error the first time it tries to commit — catching that today, not later in the git lecture, is the whole point of this slide existing.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rgbClr val="C92929"/>
                </a:solidFill>
              </a:rPr>
              <a:t>Keyword “code” maynot be recognized by terminal this is how you get the </a:t>
            </a:r>
            <a:r>
              <a:rPr lang="en-US">
                <a:solidFill>
                  <a:srgbClr val="C92929"/>
                </a:solidFill>
              </a:rPr>
              <a:t>keyword</a:t>
            </a:r>
            <a:r>
              <a:rPr lang="en-US">
                <a:solidFill>
                  <a:srgbClr val="C92929"/>
                </a:solidFill>
              </a:rPr>
              <a:t> to work:  https://code.visualstudio.com/docs/setup/mac</a:t>
            </a:r>
            <a:endParaRPr>
              <a:solidFill>
                <a:srgbClr val="C92929"/>
              </a:solidFill>
            </a:endParaRPr>
          </a:p>
          <a:p>
            <a:pPr indent="0" lvl="0" marL="0" rtl="0" algn="l">
              <a:spcBef>
                <a:spcPts val="0"/>
              </a:spcBef>
              <a:spcAft>
                <a:spcPts val="0"/>
              </a:spcAft>
              <a:buNone/>
            </a:pPr>
            <a:r>
              <a:t/>
            </a:r>
            <a:endParaRPr/>
          </a:p>
        </p:txBody>
      </p:sp>
      <p:sp>
        <p:nvSpPr>
          <p:cNvPr id="205" name="Google Shape;20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Name this explicitly, per this Fellowship's stereotype-threat research: struggling with a new tool the first time is expected, not a sign you don't belong here. Everyone in this room will hit at least one "command not found" today — that's normal, not a setback.</a:t>
            </a:r>
            <a:endParaRPr/>
          </a:p>
          <a:p>
            <a:pPr indent="0" lvl="0" marL="0" rtl="0" algn="l">
              <a:spcBef>
                <a:spcPts val="0"/>
              </a:spcBef>
              <a:spcAft>
                <a:spcPts val="0"/>
              </a:spcAft>
              <a:buNone/>
            </a:pPr>
            <a:r>
              <a:t/>
            </a:r>
            <a:endParaRPr/>
          </a:p>
        </p:txBody>
      </p:sp>
      <p:sp>
        <p:nvSpPr>
          <p:cNvPr id="218" name="Google Shape;21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This single habit (open the raw file first, before running any command on it) is the #1 flagged mistake on the actual project rubric (classifying columns by name alone, without ever looking). Model it here, on low-stakes practice data, before it matters for real. This is the same "look carefully before acting" habit from the Knight Capital case study; resolve that key takeaway here explicitly. [ENVIRONMENT] Every `data/...` reference this module (today through the AI-literacy lecture) is relative to this class's own folder, same as opening any project in VS Code — nobody needs to type the full repo path by hand.</a:t>
            </a:r>
            <a:endParaRPr/>
          </a:p>
          <a:p>
            <a:pPr indent="0" lvl="0" marL="0" rtl="0" algn="l">
              <a:spcBef>
                <a:spcPts val="0"/>
              </a:spcBef>
              <a:spcAft>
                <a:spcPts val="0"/>
              </a:spcAft>
              <a:buNone/>
            </a:pPr>
            <a:r>
              <a:t/>
            </a:r>
            <a:endParaRPr/>
          </a:p>
        </p:txBody>
      </p:sp>
      <p:sp>
        <p:nvSpPr>
          <p:cNvPr id="235" name="Google Shape;23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7" name="Google Shape;24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`data/energy_sample.csv` from the repo root is relative; a path starting with `/` is absolute. Most of what you'll type day to day is relative — absolute paths matter most when a command needs to work no matter where you're currently standing.</a:t>
            </a:r>
            <a:endParaRPr/>
          </a:p>
          <a:p>
            <a:pPr indent="0" lvl="0" marL="0" rtl="0" algn="l">
              <a:spcBef>
                <a:spcPts val="0"/>
              </a:spcBef>
              <a:spcAft>
                <a:spcPts val="0"/>
              </a:spcAft>
              <a:buNone/>
            </a:pPr>
            <a:r>
              <a:t/>
            </a:r>
            <a:endParaRPr/>
          </a:p>
        </p:txBody>
      </p:sp>
      <p:sp>
        <p:nvSpPr>
          <p:cNvPr id="248" name="Google Shape;24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Back to typing together — this is the exact "navigate a folder from the command line" skill tomorrow's git walkthrough assumes already works.</a:t>
            </a:r>
            <a:endParaRPr/>
          </a:p>
          <a:p>
            <a:pPr indent="0" lvl="0" marL="0" rtl="0" algn="l">
              <a:spcBef>
                <a:spcPts val="0"/>
              </a:spcBef>
              <a:spcAft>
                <a:spcPts val="0"/>
              </a:spcAft>
              <a:buNone/>
            </a:pPr>
            <a:r>
              <a:t/>
            </a:r>
            <a:endParaRPr/>
          </a:p>
        </p:txBody>
      </p:sp>
      <p:sp>
        <p:nvSpPr>
          <p:cNvPr id="262" name="Google Shape;26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Have everyone run this together, in their own terminal, on their own machine. This is the exact "navigate a folder from the command line" skill tomorrow's git walkthrough assumes already works.</a:t>
            </a:r>
            <a:endParaRPr/>
          </a:p>
          <a:p>
            <a:pPr indent="0" lvl="0" marL="0" rtl="0" algn="l">
              <a:spcBef>
                <a:spcPts val="0"/>
              </a:spcBef>
              <a:spcAft>
                <a:spcPts val="0"/>
              </a:spcAft>
              <a:buNone/>
            </a:pPr>
            <a:r>
              <a:t/>
            </a:r>
            <a:endParaRPr/>
          </a:p>
        </p:txBody>
      </p:sp>
      <p:sp>
        <p:nvSpPr>
          <p:cNvPr id="274" name="Google Shape;27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No wrong answer — the point is surfacing that clicking feels faster today only because it's familiar; typed commands become faster once they're muscle memory, and they're the only option once you're working on a remote server with no clickable folders at all.</a:t>
            </a:r>
            <a:endParaRPr/>
          </a:p>
          <a:p>
            <a:pPr indent="0" lvl="0" marL="0" rtl="0" algn="l">
              <a:spcBef>
                <a:spcPts val="0"/>
              </a:spcBef>
              <a:spcAft>
                <a:spcPts val="0"/>
              </a:spcAft>
              <a:buNone/>
            </a:pPr>
            <a:r>
              <a:t/>
            </a:r>
            <a:endParaRPr/>
          </a:p>
        </p:txBody>
      </p:sp>
      <p:sp>
        <p:nvSpPr>
          <p:cNvPr id="287" name="Google Shape;28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Run this live and let it visibly fail: "command not found" is what a genuine typo looks like, and it's completely normal to see this constantly. Read the exact text of the error; it usually names the exact thing that wasn't recognized. (Note for instructors: don't extend this into a claim about file-name case-sensitivity — that genuinely varies by OS/filesystem, e.g. macOS's default format doesn't distinguish `Notes.txt` from `notes.txt` the way Linux's does, confirmed by direct testing. Not a safe live-demo claim to make universally.)</a:t>
            </a:r>
            <a:endParaRPr/>
          </a:p>
          <a:p>
            <a:pPr indent="0" lvl="0" marL="0" rtl="0" algn="l">
              <a:spcBef>
                <a:spcPts val="0"/>
              </a:spcBef>
              <a:spcAft>
                <a:spcPts val="0"/>
              </a:spcAft>
              <a:buNone/>
            </a:pPr>
            <a:r>
              <a:t/>
            </a:r>
            <a:endParaRPr/>
          </a:p>
        </p:txBody>
      </p:sp>
      <p:sp>
        <p:nvSpPr>
          <p:cNvPr id="303" name="Google Shape;303;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Energy shift: from typing commands to naming the concepts behind the data itself. Keep the pace up — don't let it deflate into a dry vocabulary list.</a:t>
            </a:r>
            <a:endParaRPr/>
          </a:p>
          <a:p>
            <a:pPr indent="0" lvl="0" marL="0" rtl="0" algn="l">
              <a:spcBef>
                <a:spcPts val="0"/>
              </a:spcBef>
              <a:spcAft>
                <a:spcPts val="0"/>
              </a:spcAft>
              <a:buNone/>
            </a:pPr>
            <a:r>
              <a:t/>
            </a:r>
            <a:endParaRPr/>
          </a:p>
        </p:txBody>
      </p:sp>
      <p:sp>
        <p:nvSpPr>
          <p:cNvPr id="316" name="Google Shape;316;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"You'll know these by the end of today." Don't define them yet — just name them so the definitions later land on familiar ground, not cold.</a:t>
            </a:r>
            <a:endParaRPr/>
          </a:p>
          <a:p>
            <a:pPr indent="0" lvl="0" marL="0" rtl="0" algn="l">
              <a:spcBef>
                <a:spcPts val="0"/>
              </a:spcBef>
              <a:spcAft>
                <a:spcPts val="0"/>
              </a:spcAft>
              <a:buNone/>
            </a:pPr>
            <a:r>
              <a:t/>
            </a:r>
            <a:endParaRPr/>
          </a:p>
        </p:txBody>
      </p:sp>
      <p:sp>
        <p:nvSpPr>
          <p:cNvPr id="328" name="Google Shape;32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Common early confusion: mixing up "data type" (what kind of value) with "data structure" (how many values, organized how). Name that explicitly here — it's normal to blur these at first, and today is exactly when to un-blur them.</a:t>
            </a:r>
            <a:endParaRPr/>
          </a:p>
          <a:p>
            <a:pPr indent="0" lvl="0" marL="0" rtl="0" algn="l">
              <a:spcBef>
                <a:spcPts val="0"/>
              </a:spcBef>
              <a:spcAft>
                <a:spcPts val="0"/>
              </a:spcAft>
              <a:buNone/>
            </a:pPr>
            <a:r>
              <a:t/>
            </a:r>
            <a:endParaRPr/>
          </a:p>
        </p:txBody>
      </p:sp>
      <p:sp>
        <p:nvSpPr>
          <p:cNvPr id="348" name="Google Shape;3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These five cover almost everything you'll classify this module. The trap worth naming now: something that LOOKS like a number (a phone number, a ZIP code) is really text — you'd never average a ZIP code. That distinction is exactly what the project grades.</a:t>
            </a:r>
            <a:endParaRPr/>
          </a:p>
          <a:p>
            <a:pPr indent="0" lvl="0" marL="0" rtl="0" algn="l">
              <a:spcBef>
                <a:spcPts val="0"/>
              </a:spcBef>
              <a:spcAft>
                <a:spcPts val="0"/>
              </a:spcAft>
              <a:buNone/>
            </a:pPr>
            <a:r>
              <a:t/>
            </a:r>
            <a:endParaRPr/>
          </a:p>
        </p:txBody>
      </p:sp>
      <p:sp>
        <p:nvSpPr>
          <p:cNvPr id="368" name="Google Shape;368;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This is where they prove the vocabulary actually stuck, not where new material shows up — low-stakes recall, not a test.</a:t>
            </a:r>
            <a:endParaRPr/>
          </a:p>
          <a:p>
            <a:pPr indent="0" lvl="0" marL="0" rtl="0" algn="l">
              <a:spcBef>
                <a:spcPts val="0"/>
              </a:spcBef>
              <a:spcAft>
                <a:spcPts val="0"/>
              </a:spcAft>
              <a:buNone/>
            </a:pPr>
            <a:r>
              <a:t/>
            </a:r>
            <a:endParaRPr/>
          </a:p>
        </p:txBody>
      </p:sp>
      <p:sp>
        <p:nvSpPr>
          <p:cNvPr id="393" name="Google Shape;393;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Cold-call after a 30-second individual think, not before — lower stakes for whoever's least sure right now. The phone-number trap is deliberate: it LOOKS like a number but isn't one you'd ever average — a preview of the same "digits ≠ numeric" trap the project itself flags.</a:t>
            </a:r>
            <a:endParaRPr/>
          </a:p>
          <a:p>
            <a:pPr indent="0" lvl="0" marL="0" rtl="0" algn="l">
              <a:spcBef>
                <a:spcPts val="0"/>
              </a:spcBef>
              <a:spcAft>
                <a:spcPts val="0"/>
              </a:spcAft>
              <a:buNone/>
            </a:pPr>
            <a:r>
              <a:t/>
            </a:r>
            <a:endParaRPr/>
          </a:p>
        </p:txBody>
      </p:sp>
      <p:sp>
        <p:nvSpPr>
          <p:cNvPr id="405" name="Google Shape;40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0" name="Google Shape;42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Correct answer: Data structure</a:t>
            </a:r>
            <a:endParaRPr/>
          </a:p>
          <a:p>
            <a:pPr indent="0" lvl="0" marL="0" rtl="0" algn="l">
              <a:spcBef>
                <a:spcPts val="0"/>
              </a:spcBef>
              <a:spcAft>
                <a:spcPts val="0"/>
              </a:spcAft>
              <a:buNone/>
            </a:pPr>
            <a:r>
              <a:rPr lang="en-US"/>
              <a:t>Why: A shopping list holds multiple items together, organized — that's a data structure, not one single value. By contrast, a birthdate or a phone number is a single value of one data type each (and a phone number is text, not a number you'd ever do math on).</a:t>
            </a:r>
            <a:endParaRPr/>
          </a:p>
          <a:p>
            <a:pPr indent="0" lvl="0" marL="0" rtl="0" algn="l">
              <a:spcBef>
                <a:spcPts val="0"/>
              </a:spcBef>
              <a:spcAft>
                <a:spcPts val="0"/>
              </a:spcAft>
              <a:buNone/>
            </a:pPr>
            <a:r>
              <a:rPr lang="en-US"/>
              <a:t>Source: This module's own objective-1 definition, not an external citation</a:t>
            </a:r>
            <a:endParaRPr/>
          </a:p>
        </p:txBody>
      </p:sp>
      <p:sp>
        <p:nvSpPr>
          <p:cNvPr id="421" name="Google Shape;421;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Keep it quick-fire and low-pressure — participation over correctness. This is deliberately a different mode (game, not poll) from the last check, per this system's engagement-variety guidance. Bloom's level bumped to understand (not remember, like the shopping- list check right before it) since this is the second check on the same "data type vs data structure" topic: each Fellow picks their own never-before-seen item and has to reason out its type live, not just recall a pre-set answer - a real step up from pure recall, per "Spaced repetition: escalate rigor on repeat" in pedagogy/blooms_taxonomy.md.</a:t>
            </a:r>
            <a:endParaRPr/>
          </a:p>
          <a:p>
            <a:pPr indent="0" lvl="0" marL="0" rtl="0" algn="l">
              <a:spcBef>
                <a:spcPts val="0"/>
              </a:spcBef>
              <a:spcAft>
                <a:spcPts val="0"/>
              </a:spcAft>
              <a:buNone/>
            </a:pPr>
            <a:r>
              <a:t/>
            </a:r>
            <a:endParaRPr/>
          </a:p>
        </p:txBody>
      </p:sp>
      <p:sp>
        <p:nvSpPr>
          <p:cNvPr id="434" name="Google Shape;434;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Correct answer: Depends on the item named live</a:t>
            </a:r>
            <a:endParaRPr/>
          </a:p>
          <a:p>
            <a:pPr indent="0" lvl="0" marL="0" rtl="0" algn="l">
              <a:spcBef>
                <a:spcPts val="0"/>
              </a:spcBef>
              <a:spcAft>
                <a:spcPts val="0"/>
              </a:spcAft>
              <a:buNone/>
            </a:pPr>
            <a:r>
              <a:rPr lang="en-US"/>
              <a:t>Why: A GPA is a decimal, a Wi-Fi password is text (even if it's all digits — you'd never do math on it), a grocery list is a data structure, not a single data type.</a:t>
            </a:r>
            <a:endParaRPr/>
          </a:p>
          <a:p>
            <a:pPr indent="0" lvl="0" marL="0" rtl="0" algn="l">
              <a:spcBef>
                <a:spcPts val="0"/>
              </a:spcBef>
              <a:spcAft>
                <a:spcPts val="0"/>
              </a:spcAft>
              <a:buNone/>
            </a:pPr>
            <a:r>
              <a:rPr lang="en-US"/>
              <a:t>Source: This module's own objective-1 definition, not an external citation</a:t>
            </a:r>
            <a:endParaRPr/>
          </a:p>
        </p:txBody>
      </p:sp>
      <p:sp>
        <p:nvSpPr>
          <p:cNvPr id="460" name="Google Shape;460;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Last reinforcement pass before the summary — read each definition once, out loud, tying it back to something used live today (the terminal they just used, the shopping-list example).</a:t>
            </a:r>
            <a:endParaRPr/>
          </a:p>
          <a:p>
            <a:pPr indent="0" lvl="0" marL="0" rtl="0" algn="l">
              <a:spcBef>
                <a:spcPts val="0"/>
              </a:spcBef>
              <a:spcAft>
                <a:spcPts val="0"/>
              </a:spcAft>
              <a:buNone/>
            </a:pPr>
            <a:r>
              <a:t/>
            </a:r>
            <a:endParaRPr/>
          </a:p>
        </p:txBody>
      </p:sp>
      <p:sp>
        <p:nvSpPr>
          <p:cNvPr id="473" name="Google Shape;473;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Tie back to the case study's key takeaway: the habit that might have caught Knight Capital's bug is the exact one practiced today — read carefully, check your setup, don't assume. Tomorrow builds directly on this: the same terminal you just confirmed works is where you'll run your first real git commands.</a:t>
            </a:r>
            <a:endParaRPr/>
          </a:p>
          <a:p>
            <a:pPr indent="0" lvl="0" marL="0" rtl="0" algn="l">
              <a:spcBef>
                <a:spcPts val="0"/>
              </a:spcBef>
              <a:spcAft>
                <a:spcPts val="0"/>
              </a:spcAft>
              <a:buNone/>
            </a:pPr>
            <a:r>
              <a:t/>
            </a:r>
            <a:endParaRPr/>
          </a:p>
        </p:txBody>
      </p:sp>
      <p:sp>
        <p:nvSpPr>
          <p:cNvPr id="493" name="Google Shape;493;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Close by naming tomorrow specifically — git/GitHub, fully guided, nobody's expected to know it yet.</a:t>
            </a:r>
            <a:endParaRPr/>
          </a:p>
          <a:p>
            <a:pPr indent="0" lvl="0" marL="0" rtl="0" algn="l">
              <a:spcBef>
                <a:spcPts val="0"/>
              </a:spcBef>
              <a:spcAft>
                <a:spcPts val="0"/>
              </a:spcAft>
              <a:buNone/>
            </a:pPr>
            <a:r>
              <a:t/>
            </a:r>
            <a:endParaRPr/>
          </a:p>
        </p:txBody>
      </p:sp>
      <p:sp>
        <p:nvSpPr>
          <p:cNvPr id="510" name="Google Shape;510;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[SCRIPT] Mention these exist, don't assign them as homework — today's lab is the actual practice.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rgbClr val="C92929"/>
                </a:solidFill>
              </a:rPr>
              <a:t>The box is clickable and takes you to the link</a:t>
            </a:r>
            <a:endParaRPr>
              <a:solidFill>
                <a:srgbClr val="C92929"/>
              </a:solidFill>
            </a:endParaRPr>
          </a:p>
        </p:txBody>
      </p:sp>
      <p:sp>
        <p:nvSpPr>
          <p:cNvPr id="525" name="Google Shape;525;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www.sec.gov/files/litigation/admin/2013/34-70694.pdf" TargetMode="External"/><Relationship Id="rId5" Type="http://schemas.openxmlformats.org/officeDocument/2006/relationships/hyperlink" Target="https://www.sec.gov/files/litigation/admin/2013/34-70694.pdf"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hyperlink" Target="https://code.visualstudio.com/docs" TargetMode="External"/><Relationship Id="rId5" Type="http://schemas.openxmlformats.org/officeDocument/2006/relationships/hyperlink" Target="https://swcarpentry.github.io/shell-novic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F32"/>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02920"/>
            <a:ext cx="3931920" cy="2743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300" u="none" cap="none" strike="noStrike">
                <a:solidFill>
                  <a:srgbClr val="FFFCF7"/>
                </a:solidFill>
                <a:latin typeface="Arial"/>
                <a:ea typeface="Arial"/>
                <a:cs typeface="Arial"/>
                <a:sym typeface="Arial"/>
              </a:rPr>
              <a:t>THE MARCY LAB SCHOOL</a:t>
            </a:r>
            <a:endParaRPr/>
          </a:p>
        </p:txBody>
      </p:sp>
      <p:sp>
        <p:nvSpPr>
          <p:cNvPr id="86" name="Google Shape;86;p13"/>
          <p:cNvSpPr txBox="1"/>
          <p:nvPr/>
        </p:nvSpPr>
        <p:spPr>
          <a:xfrm>
            <a:off x="658368" y="1417320"/>
            <a:ext cx="7498079" cy="14173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4200" u="none" cap="none" strike="noStrike">
                <a:solidFill>
                  <a:srgbClr val="FFFCF7"/>
                </a:solidFill>
                <a:latin typeface="Arial"/>
                <a:ea typeface="Arial"/>
                <a:cs typeface="Arial"/>
                <a:sym typeface="Arial"/>
              </a:rPr>
              <a:t>Developer Environment,</a:t>
            </a:r>
            <a:br>
              <a:rPr b="1" i="0" lang="en-US" sz="4200" u="none" cap="none" strike="noStrike">
                <a:solidFill>
                  <a:srgbClr val="FFFCF7"/>
                </a:solidFill>
                <a:latin typeface="Arial"/>
                <a:ea typeface="Arial"/>
                <a:cs typeface="Arial"/>
                <a:sym typeface="Arial"/>
              </a:rPr>
            </a:br>
            <a:r>
              <a:rPr b="1" i="0" lang="en-US" sz="4200" u="none" cap="none" strike="noStrike">
                <a:solidFill>
                  <a:srgbClr val="FFFCF7"/>
                </a:solidFill>
                <a:latin typeface="Arial"/>
                <a:ea typeface="Arial"/>
                <a:cs typeface="Arial"/>
                <a:sym typeface="Arial"/>
              </a:rPr>
              <a:t>Variables, Data Types</a:t>
            </a:r>
            <a:endParaRPr/>
          </a:p>
        </p:txBody>
      </p:sp>
      <p:sp>
        <p:nvSpPr>
          <p:cNvPr id="87" name="Google Shape;87;p13"/>
          <p:cNvSpPr txBox="1"/>
          <p:nvPr/>
        </p:nvSpPr>
        <p:spPr>
          <a:xfrm>
            <a:off x="658368" y="3246120"/>
            <a:ext cx="4572000" cy="3657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2600" u="none" cap="none" strike="noStrike">
                <a:solidFill>
                  <a:srgbClr val="FFFCF7"/>
                </a:solidFill>
                <a:latin typeface="Arial"/>
                <a:ea typeface="Arial"/>
                <a:cs typeface="Arial"/>
                <a:sym typeface="Arial"/>
              </a:rPr>
              <a:t>Module 0: Foundations</a:t>
            </a:r>
            <a:endParaRPr/>
          </a:p>
        </p:txBody>
      </p:sp>
      <p:sp>
        <p:nvSpPr>
          <p:cNvPr id="88" name="Google Shape;88;p13"/>
          <p:cNvSpPr/>
          <p:nvPr/>
        </p:nvSpPr>
        <p:spPr>
          <a:xfrm>
            <a:off x="7635240" y="1463040"/>
            <a:ext cx="3794760" cy="2423160"/>
          </a:xfrm>
          <a:prstGeom prst="roundRect">
            <a:avLst>
              <a:gd fmla="val 16667" name="adj"/>
            </a:avLst>
          </a:prstGeom>
          <a:solidFill>
            <a:srgbClr val="182326"/>
          </a:solidFill>
          <a:ln cap="flat" cmpd="sng" w="9525">
            <a:solidFill>
              <a:srgbClr val="18232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7863840" y="1645920"/>
            <a:ext cx="109728" cy="109728"/>
          </a:xfrm>
          <a:prstGeom prst="ellipse">
            <a:avLst/>
          </a:prstGeom>
          <a:solidFill>
            <a:srgbClr val="B932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p:nvPr/>
        </p:nvSpPr>
        <p:spPr>
          <a:xfrm>
            <a:off x="8074152" y="1645920"/>
            <a:ext cx="109728" cy="109728"/>
          </a:xfrm>
          <a:prstGeom prst="ellipse">
            <a:avLst/>
          </a:prstGeom>
          <a:solidFill>
            <a:srgbClr val="8B6A1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 name="Google Shape;91;p13"/>
          <p:cNvSpPr/>
          <p:nvPr/>
        </p:nvSpPr>
        <p:spPr>
          <a:xfrm>
            <a:off x="8284464" y="1645920"/>
            <a:ext cx="109728" cy="109728"/>
          </a:xfrm>
          <a:prstGeom prst="ellipse">
            <a:avLst/>
          </a:prstGeom>
          <a:solidFill>
            <a:srgbClr val="BFD9C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3"/>
          <p:cNvSpPr txBox="1"/>
          <p:nvPr/>
        </p:nvSpPr>
        <p:spPr>
          <a:xfrm>
            <a:off x="7891271" y="1965960"/>
            <a:ext cx="3282696" cy="17373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2400" u="none" cap="none" strike="noStrike">
                <a:solidFill>
                  <a:srgbClr val="FFFCF7"/>
                </a:solidFill>
                <a:latin typeface="Courier New"/>
                <a:ea typeface="Courier New"/>
                <a:cs typeface="Courier New"/>
                <a:sym typeface="Courier New"/>
              </a:rPr>
              <a:t>$ echo $SHELL</a:t>
            </a:r>
            <a:br>
              <a:rPr b="0" i="0" lang="en-US" sz="2400" u="none" cap="none" strike="noStrike">
                <a:solidFill>
                  <a:srgbClr val="FFFCF7"/>
                </a:solidFill>
                <a:latin typeface="Courier New"/>
                <a:ea typeface="Courier New"/>
                <a:cs typeface="Courier New"/>
                <a:sym typeface="Courier New"/>
              </a:rPr>
            </a:br>
            <a:r>
              <a:rPr b="0" i="0" lang="en-US" sz="2400" u="none" cap="none" strike="noStrike">
                <a:solidFill>
                  <a:srgbClr val="FFFCF7"/>
                </a:solidFill>
                <a:latin typeface="Courier New"/>
                <a:ea typeface="Courier New"/>
                <a:cs typeface="Courier New"/>
                <a:sym typeface="Courier New"/>
              </a:rPr>
              <a:t>/bin/zsh</a:t>
            </a:r>
            <a:br>
              <a:rPr b="0" i="0" lang="en-US" sz="2400" u="none" cap="none" strike="noStrike">
                <a:solidFill>
                  <a:srgbClr val="FFFCF7"/>
                </a:solidFill>
                <a:latin typeface="Courier New"/>
                <a:ea typeface="Courier New"/>
                <a:cs typeface="Courier New"/>
                <a:sym typeface="Courier New"/>
              </a:rPr>
            </a:br>
            <a:r>
              <a:rPr b="0" i="0" lang="en-US" sz="2400" u="none" cap="none" strike="noStrike">
                <a:solidFill>
                  <a:srgbClr val="FFFCF7"/>
                </a:solidFill>
                <a:latin typeface="Courier New"/>
                <a:ea typeface="Courier New"/>
                <a:cs typeface="Courier New"/>
                <a:sym typeface="Courier New"/>
              </a:rPr>
              <a:t>$ git --version</a:t>
            </a:r>
            <a:br>
              <a:rPr b="0" i="0" lang="en-US" sz="2400" u="none" cap="none" strike="noStrike">
                <a:solidFill>
                  <a:srgbClr val="FFFCF7"/>
                </a:solidFill>
                <a:latin typeface="Courier New"/>
                <a:ea typeface="Courier New"/>
                <a:cs typeface="Courier New"/>
                <a:sym typeface="Courier New"/>
              </a:rPr>
            </a:br>
            <a:r>
              <a:rPr b="0" i="0" lang="en-US" sz="2400" u="none" cap="none" strike="noStrike">
                <a:solidFill>
                  <a:srgbClr val="FFFCF7"/>
                </a:solidFill>
                <a:latin typeface="Courier New"/>
                <a:ea typeface="Courier New"/>
                <a:cs typeface="Courier New"/>
                <a:sym typeface="Courier New"/>
              </a:rPr>
              <a:t>$ code --version</a:t>
            </a:r>
            <a:endParaRPr/>
          </a:p>
        </p:txBody>
      </p:sp>
      <p:sp>
        <p:nvSpPr>
          <p:cNvPr id="93" name="Google Shape;93;p13"/>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00" u="none" cap="none" strike="noStrike">
                <a:solidFill>
                  <a:srgbClr val="FFFCF7"/>
                </a:solidFill>
                <a:latin typeface="Arial"/>
                <a:ea typeface="Arial"/>
                <a:cs typeface="Arial"/>
                <a:sym typeface="Arial"/>
              </a:rPr>
              <a:t>MODULE 0  •  FOUNDATIONS</a:t>
            </a:r>
            <a:endParaRPr/>
          </a:p>
        </p:txBody>
      </p:sp>
      <p:pic>
        <p:nvPicPr>
          <p:cNvPr descr="image.png" id="94" name="Google Shape;94;p13"/>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99" name="Shape 99"/>
        <p:cNvGrpSpPr/>
        <p:nvPr/>
      </p:nvGrpSpPr>
      <p:grpSpPr>
        <a:xfrm>
          <a:off x="0" y="0"/>
          <a:ext cx="0" cy="0"/>
          <a:chOff x="0" y="0"/>
          <a:chExt cx="0" cy="0"/>
        </a:xfrm>
      </p:grpSpPr>
      <p:sp>
        <p:nvSpPr>
          <p:cNvPr id="100" name="Google Shape;100;p14"/>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By the End of Today, You’ll Be Able To…</a:t>
            </a:r>
            <a:endParaRPr/>
          </a:p>
        </p:txBody>
      </p:sp>
      <p:sp>
        <p:nvSpPr>
          <p:cNvPr id="101" name="Google Shape;101;p14"/>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102" name="Google Shape;102;p14"/>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103" name="Google Shape;103;p14"/>
          <p:cNvSpPr/>
          <p:nvPr/>
        </p:nvSpPr>
        <p:spPr>
          <a:xfrm>
            <a:off x="685800" y="1737360"/>
            <a:ext cx="3337560" cy="25146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14"/>
          <p:cNvSpPr txBox="1"/>
          <p:nvPr/>
        </p:nvSpPr>
        <p:spPr>
          <a:xfrm>
            <a:off x="941832" y="1956815"/>
            <a:ext cx="282549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1</a:t>
            </a:r>
            <a:endParaRPr/>
          </a:p>
        </p:txBody>
      </p:sp>
      <p:sp>
        <p:nvSpPr>
          <p:cNvPr id="105" name="Google Shape;105;p14"/>
          <p:cNvSpPr txBox="1"/>
          <p:nvPr/>
        </p:nvSpPr>
        <p:spPr>
          <a:xfrm>
            <a:off x="941832" y="2542032"/>
            <a:ext cx="2825496" cy="14904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Confirm your terminal, git, VS Code setup</a:t>
            </a:r>
            <a:endParaRPr/>
          </a:p>
        </p:txBody>
      </p:sp>
      <p:sp>
        <p:nvSpPr>
          <p:cNvPr id="106" name="Google Shape;106;p14"/>
          <p:cNvSpPr/>
          <p:nvPr/>
        </p:nvSpPr>
        <p:spPr>
          <a:xfrm>
            <a:off x="4434840" y="1737360"/>
            <a:ext cx="3337560" cy="251460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4"/>
          <p:cNvSpPr txBox="1"/>
          <p:nvPr/>
        </p:nvSpPr>
        <p:spPr>
          <a:xfrm>
            <a:off x="4690872" y="1956815"/>
            <a:ext cx="282549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2</a:t>
            </a:r>
            <a:endParaRPr/>
          </a:p>
        </p:txBody>
      </p:sp>
      <p:sp>
        <p:nvSpPr>
          <p:cNvPr id="108" name="Google Shape;108;p14"/>
          <p:cNvSpPr txBox="1"/>
          <p:nvPr/>
        </p:nvSpPr>
        <p:spPr>
          <a:xfrm>
            <a:off x="4690872" y="2542032"/>
            <a:ext cx="2825496" cy="14904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Define variable, data type, and data structure</a:t>
            </a:r>
            <a:endParaRPr/>
          </a:p>
        </p:txBody>
      </p:sp>
      <p:sp>
        <p:nvSpPr>
          <p:cNvPr id="109" name="Google Shape;109;p14"/>
          <p:cNvSpPr/>
          <p:nvPr/>
        </p:nvSpPr>
        <p:spPr>
          <a:xfrm>
            <a:off x="8183879" y="1737360"/>
            <a:ext cx="3337560" cy="251460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4"/>
          <p:cNvSpPr txBox="1"/>
          <p:nvPr/>
        </p:nvSpPr>
        <p:spPr>
          <a:xfrm>
            <a:off x="8439911" y="1956815"/>
            <a:ext cx="282549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3</a:t>
            </a:r>
            <a:endParaRPr/>
          </a:p>
        </p:txBody>
      </p:sp>
      <p:sp>
        <p:nvSpPr>
          <p:cNvPr id="111" name="Google Shape;111;p14"/>
          <p:cNvSpPr txBox="1"/>
          <p:nvPr/>
        </p:nvSpPr>
        <p:spPr>
          <a:xfrm>
            <a:off x="8439911" y="2542032"/>
            <a:ext cx="2825496" cy="14904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Sort 5 everyday items by data type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16" name="Shape 116"/>
        <p:cNvGrpSpPr/>
        <p:nvPr/>
      </p:nvGrpSpPr>
      <p:grpSpPr>
        <a:xfrm>
          <a:off x="0" y="0"/>
          <a:ext cx="0" cy="0"/>
          <a:chOff x="0" y="0"/>
          <a:chExt cx="0" cy="0"/>
        </a:xfrm>
      </p:grpSpPr>
      <p:sp>
        <p:nvSpPr>
          <p:cNvPr id="117" name="Google Shape;117;p15"/>
          <p:cNvSpPr/>
          <p:nvPr/>
        </p:nvSpPr>
        <p:spPr>
          <a:xfrm>
            <a:off x="566928" y="310896"/>
            <a:ext cx="2331720" cy="384048"/>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15"/>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CASE STUDY</a:t>
            </a:r>
            <a:endParaRPr/>
          </a:p>
        </p:txBody>
      </p:sp>
      <p:sp>
        <p:nvSpPr>
          <p:cNvPr id="119" name="Google Shape;119;p15"/>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100">
                <a:solidFill>
                  <a:srgbClr val="261F1D"/>
                </a:solidFill>
                <a:latin typeface="Arial"/>
                <a:ea typeface="Arial"/>
                <a:cs typeface="Arial"/>
                <a:sym typeface="Arial"/>
              </a:rPr>
              <a:t>A Bad Deploy Cost $460 Million in 45 Minutes</a:t>
            </a:r>
            <a:endParaRPr/>
          </a:p>
        </p:txBody>
      </p:sp>
      <p:sp>
        <p:nvSpPr>
          <p:cNvPr id="120" name="Google Shape;120;p15"/>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121" name="Google Shape;121;p15"/>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122" name="Google Shape;122;p15"/>
          <p:cNvSpPr/>
          <p:nvPr/>
        </p:nvSpPr>
        <p:spPr>
          <a:xfrm>
            <a:off x="685800" y="1691640"/>
            <a:ext cx="5074920" cy="2011680"/>
          </a:xfrm>
          <a:prstGeom prst="roundRect">
            <a:avLst>
              <a:gd fmla="val 16667" name="adj"/>
            </a:avLst>
          </a:prstGeom>
          <a:solidFill>
            <a:srgbClr val="F8DEDB"/>
          </a:solidFill>
          <a:ln cap="flat" cmpd="sng" w="38100">
            <a:solidFill>
              <a:srgbClr val="B9322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15"/>
          <p:cNvSpPr txBox="1"/>
          <p:nvPr/>
        </p:nvSpPr>
        <p:spPr>
          <a:xfrm>
            <a:off x="941832" y="191109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700">
                <a:solidFill>
                  <a:srgbClr val="261F1D"/>
                </a:solidFill>
                <a:latin typeface="Arial"/>
                <a:ea typeface="Arial"/>
                <a:cs typeface="Arial"/>
                <a:sym typeface="Arial"/>
              </a:rPr>
              <a:t>What happened</a:t>
            </a:r>
            <a:endParaRPr/>
          </a:p>
        </p:txBody>
      </p:sp>
      <p:sp>
        <p:nvSpPr>
          <p:cNvPr id="124" name="Google Shape;124;p15"/>
          <p:cNvSpPr txBox="1"/>
          <p:nvPr/>
        </p:nvSpPr>
        <p:spPr>
          <a:xfrm>
            <a:off x="941832" y="2496312"/>
            <a:ext cx="4562856" cy="9875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New trading software + one old test flag → runaway trades</a:t>
            </a:r>
            <a:endParaRPr/>
          </a:p>
        </p:txBody>
      </p:sp>
      <p:sp>
        <p:nvSpPr>
          <p:cNvPr id="125" name="Google Shape;125;p15"/>
          <p:cNvSpPr/>
          <p:nvPr/>
        </p:nvSpPr>
        <p:spPr>
          <a:xfrm>
            <a:off x="6263640" y="1691640"/>
            <a:ext cx="5074920" cy="201168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15"/>
          <p:cNvSpPr txBox="1"/>
          <p:nvPr/>
        </p:nvSpPr>
        <p:spPr>
          <a:xfrm>
            <a:off x="6519672" y="191109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700">
                <a:solidFill>
                  <a:srgbClr val="261F1D"/>
                </a:solidFill>
                <a:latin typeface="Arial"/>
                <a:ea typeface="Arial"/>
                <a:cs typeface="Arial"/>
                <a:sym typeface="Arial"/>
              </a:rPr>
              <a:t>The cost</a:t>
            </a:r>
            <a:endParaRPr/>
          </a:p>
        </p:txBody>
      </p:sp>
      <p:sp>
        <p:nvSpPr>
          <p:cNvPr id="127" name="Google Shape;127;p15"/>
          <p:cNvSpPr txBox="1"/>
          <p:nvPr/>
        </p:nvSpPr>
        <p:spPr>
          <a:xfrm>
            <a:off x="6519672" y="2496312"/>
            <a:ext cx="4562856" cy="9875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800">
                <a:solidFill>
                  <a:srgbClr val="261F1D"/>
                </a:solidFill>
                <a:latin typeface="Arial"/>
                <a:ea typeface="Arial"/>
                <a:cs typeface="Arial"/>
                <a:sym typeface="Arial"/>
              </a:rPr>
              <a:t>$460M lost in 45 minutes</a:t>
            </a:r>
            <a:endParaRPr/>
          </a:p>
        </p:txBody>
      </p:sp>
      <p:sp>
        <p:nvSpPr>
          <p:cNvPr id="128" name="Google Shape;128;p15"/>
          <p:cNvSpPr/>
          <p:nvPr/>
        </p:nvSpPr>
        <p:spPr>
          <a:xfrm>
            <a:off x="685800" y="4069080"/>
            <a:ext cx="10652760" cy="123444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15"/>
          <p:cNvSpPr txBox="1"/>
          <p:nvPr/>
        </p:nvSpPr>
        <p:spPr>
          <a:xfrm>
            <a:off x="960120" y="4407408"/>
            <a:ext cx="10104120" cy="475488"/>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261F1D"/>
                </a:solidFill>
                <a:latin typeface="Arial"/>
                <a:ea typeface="Arial"/>
                <a:cs typeface="Arial"/>
                <a:sym typeface="Arial"/>
              </a:rPr>
              <a:t>Important point: Verify your setup with real validation steps from the start.</a:t>
            </a:r>
            <a:endParaRPr/>
          </a:p>
        </p:txBody>
      </p:sp>
      <p:sp>
        <p:nvSpPr>
          <p:cNvPr id="130" name="Google Shape;130;p15">
            <a:hlinkClick r:id="rId4"/>
          </p:cNvPr>
          <p:cNvSpPr txBox="1"/>
          <p:nvPr/>
        </p:nvSpPr>
        <p:spPr>
          <a:xfrm>
            <a:off x="731520" y="5559552"/>
            <a:ext cx="9875400" cy="267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1500" u="sng">
                <a:solidFill>
                  <a:schemeClr val="hlink"/>
                </a:solidFill>
                <a:latin typeface="Arial"/>
                <a:ea typeface="Arial"/>
                <a:cs typeface="Arial"/>
                <a:sym typeface="Arial"/>
                <a:hlinkClick r:id="rId5"/>
              </a:rPr>
              <a:t>Source: U.S. Securities and Exchange Commission, Release No. 70694 (2013)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F32"/>
        </a:solidFill>
      </p:bgPr>
    </p:bg>
    <p:spTree>
      <p:nvGrpSpPr>
        <p:cNvPr id="135" name="Shape 135"/>
        <p:cNvGrpSpPr/>
        <p:nvPr/>
      </p:nvGrpSpPr>
      <p:grpSpPr>
        <a:xfrm>
          <a:off x="0" y="0"/>
          <a:ext cx="0" cy="0"/>
          <a:chOff x="0" y="0"/>
          <a:chExt cx="0" cy="0"/>
        </a:xfrm>
      </p:grpSpPr>
      <p:sp>
        <p:nvSpPr>
          <p:cNvPr id="136" name="Google Shape;136;p16"/>
          <p:cNvSpPr txBox="1"/>
          <p:nvPr/>
        </p:nvSpPr>
        <p:spPr>
          <a:xfrm>
            <a:off x="658368" y="685800"/>
            <a:ext cx="3657600" cy="228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400">
                <a:solidFill>
                  <a:srgbClr val="F6D574"/>
                </a:solidFill>
                <a:latin typeface="Arial"/>
                <a:ea typeface="Arial"/>
                <a:cs typeface="Arial"/>
                <a:sym typeface="Arial"/>
              </a:rPr>
              <a:t>WHY THIS MATTERS</a:t>
            </a:r>
            <a:endParaRPr/>
          </a:p>
        </p:txBody>
      </p:sp>
      <p:sp>
        <p:nvSpPr>
          <p:cNvPr id="137" name="Google Shape;137;p16"/>
          <p:cNvSpPr txBox="1"/>
          <p:nvPr/>
        </p:nvSpPr>
        <p:spPr>
          <a:xfrm>
            <a:off x="658368" y="1389888"/>
            <a:ext cx="8412480" cy="10515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4000">
                <a:solidFill>
                  <a:srgbClr val="FFFCF7"/>
                </a:solidFill>
                <a:latin typeface="Arial"/>
                <a:ea typeface="Arial"/>
                <a:cs typeface="Arial"/>
                <a:sym typeface="Arial"/>
              </a:rPr>
              <a:t>Setting Up Your Tools</a:t>
            </a:r>
            <a:endParaRPr/>
          </a:p>
        </p:txBody>
      </p:sp>
      <p:sp>
        <p:nvSpPr>
          <p:cNvPr id="138" name="Google Shape;138;p16"/>
          <p:cNvSpPr txBox="1"/>
          <p:nvPr/>
        </p:nvSpPr>
        <p:spPr>
          <a:xfrm>
            <a:off x="658368" y="2743200"/>
            <a:ext cx="8046720" cy="12801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FFFCF7"/>
                </a:solidFill>
                <a:latin typeface="Arial"/>
                <a:ea typeface="Arial"/>
                <a:cs typeface="Arial"/>
                <a:sym typeface="Arial"/>
              </a:rPr>
              <a:t>A setup you’ve actually verified beats one you’re just assuming works — that habit starts now.</a:t>
            </a:r>
            <a:endParaRPr/>
          </a:p>
        </p:txBody>
      </p:sp>
      <p:sp>
        <p:nvSpPr>
          <p:cNvPr id="139" name="Google Shape;139;p16"/>
          <p:cNvSpPr/>
          <p:nvPr/>
        </p:nvSpPr>
        <p:spPr>
          <a:xfrm>
            <a:off x="9509760" y="1554480"/>
            <a:ext cx="1508760" cy="1508760"/>
          </a:xfrm>
          <a:prstGeom prst="ellipse">
            <a:avLst/>
          </a:prstGeom>
          <a:solidFill>
            <a:srgbClr val="FFF5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16"/>
          <p:cNvSpPr txBox="1"/>
          <p:nvPr/>
        </p:nvSpPr>
        <p:spPr>
          <a:xfrm>
            <a:off x="9784080" y="1965960"/>
            <a:ext cx="91440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153F32"/>
                </a:solidFill>
                <a:latin typeface="Courier New"/>
                <a:ea typeface="Courier New"/>
                <a:cs typeface="Courier New"/>
                <a:sym typeface="Courier New"/>
              </a:rPr>
              <a:t>&gt;_</a:t>
            </a:r>
            <a:endParaRPr/>
          </a:p>
        </p:txBody>
      </p:sp>
      <p:sp>
        <p:nvSpPr>
          <p:cNvPr id="141" name="Google Shape;141;p16"/>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FFFCF7"/>
                </a:solidFill>
                <a:latin typeface="Arial"/>
                <a:ea typeface="Arial"/>
                <a:cs typeface="Arial"/>
                <a:sym typeface="Arial"/>
              </a:rPr>
              <a:t>MODULE 0  •  FOUNDATIONS</a:t>
            </a:r>
            <a:endParaRPr/>
          </a:p>
        </p:txBody>
      </p:sp>
      <p:pic>
        <p:nvPicPr>
          <p:cNvPr descr="image.png" id="142" name="Google Shape;142;p16"/>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47" name="Shape 147"/>
        <p:cNvGrpSpPr/>
        <p:nvPr/>
      </p:nvGrpSpPr>
      <p:grpSpPr>
        <a:xfrm>
          <a:off x="0" y="0"/>
          <a:ext cx="0" cy="0"/>
          <a:chOff x="0" y="0"/>
          <a:chExt cx="0" cy="0"/>
        </a:xfrm>
      </p:grpSpPr>
      <p:sp>
        <p:nvSpPr>
          <p:cNvPr id="148" name="Google Shape;148;p17"/>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Reading Your Terminal Prompt</a:t>
            </a:r>
            <a:endParaRPr/>
          </a:p>
        </p:txBody>
      </p:sp>
      <p:sp>
        <p:nvSpPr>
          <p:cNvPr id="149" name="Google Shape;149;p17"/>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150" name="Google Shape;150;p17"/>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151" name="Google Shape;151;p17"/>
          <p:cNvSpPr/>
          <p:nvPr/>
        </p:nvSpPr>
        <p:spPr>
          <a:xfrm>
            <a:off x="640080" y="1645920"/>
            <a:ext cx="5349240" cy="1234440"/>
          </a:xfrm>
          <a:prstGeom prst="roundRect">
            <a:avLst>
              <a:gd fmla="val 16667" name="adj"/>
            </a:avLst>
          </a:prstGeom>
          <a:solidFill>
            <a:srgbClr val="182326"/>
          </a:solidFill>
          <a:ln cap="flat" cmpd="sng" w="9525">
            <a:solidFill>
              <a:srgbClr val="18232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17"/>
          <p:cNvSpPr/>
          <p:nvPr/>
        </p:nvSpPr>
        <p:spPr>
          <a:xfrm>
            <a:off x="868680" y="1828800"/>
            <a:ext cx="109728" cy="109728"/>
          </a:xfrm>
          <a:prstGeom prst="ellipse">
            <a:avLst/>
          </a:prstGeom>
          <a:solidFill>
            <a:srgbClr val="B932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3" name="Google Shape;153;p17"/>
          <p:cNvSpPr/>
          <p:nvPr/>
        </p:nvSpPr>
        <p:spPr>
          <a:xfrm>
            <a:off x="1078992" y="1828800"/>
            <a:ext cx="109728" cy="109728"/>
          </a:xfrm>
          <a:prstGeom prst="ellipse">
            <a:avLst/>
          </a:prstGeom>
          <a:solidFill>
            <a:srgbClr val="8B6A1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17"/>
          <p:cNvSpPr/>
          <p:nvPr/>
        </p:nvSpPr>
        <p:spPr>
          <a:xfrm>
            <a:off x="1289304" y="1828800"/>
            <a:ext cx="109728" cy="109728"/>
          </a:xfrm>
          <a:prstGeom prst="ellipse">
            <a:avLst/>
          </a:prstGeom>
          <a:solidFill>
            <a:srgbClr val="BFD9C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5" name="Google Shape;155;p17"/>
          <p:cNvSpPr txBox="1"/>
          <p:nvPr/>
        </p:nvSpPr>
        <p:spPr>
          <a:xfrm>
            <a:off x="896112" y="2148840"/>
            <a:ext cx="4837175" cy="5486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FFFCF7"/>
                </a:solidFill>
                <a:latin typeface="Courier New"/>
                <a:ea typeface="Courier New"/>
                <a:cs typeface="Courier New"/>
                <a:sym typeface="Courier New"/>
              </a:rPr>
              <a:t>jelly@macbook ~/project $</a:t>
            </a:r>
            <a:endParaRPr/>
          </a:p>
        </p:txBody>
      </p:sp>
      <p:sp>
        <p:nvSpPr>
          <p:cNvPr id="156" name="Google Shape;156;p17"/>
          <p:cNvSpPr/>
          <p:nvPr/>
        </p:nvSpPr>
        <p:spPr>
          <a:xfrm>
            <a:off x="6217920" y="1645920"/>
            <a:ext cx="5349240" cy="1234440"/>
          </a:xfrm>
          <a:prstGeom prst="roundRect">
            <a:avLst>
              <a:gd fmla="val 16667" name="adj"/>
            </a:avLst>
          </a:prstGeom>
          <a:solidFill>
            <a:srgbClr val="182326"/>
          </a:solidFill>
          <a:ln cap="flat" cmpd="sng" w="9525">
            <a:solidFill>
              <a:srgbClr val="18232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17"/>
          <p:cNvSpPr/>
          <p:nvPr/>
        </p:nvSpPr>
        <p:spPr>
          <a:xfrm>
            <a:off x="6446520" y="1828800"/>
            <a:ext cx="109728" cy="109728"/>
          </a:xfrm>
          <a:prstGeom prst="ellipse">
            <a:avLst/>
          </a:prstGeom>
          <a:solidFill>
            <a:srgbClr val="B9322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17"/>
          <p:cNvSpPr/>
          <p:nvPr/>
        </p:nvSpPr>
        <p:spPr>
          <a:xfrm>
            <a:off x="6656832" y="1828800"/>
            <a:ext cx="109728" cy="109728"/>
          </a:xfrm>
          <a:prstGeom prst="ellipse">
            <a:avLst/>
          </a:prstGeom>
          <a:solidFill>
            <a:srgbClr val="8B6A1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17"/>
          <p:cNvSpPr/>
          <p:nvPr/>
        </p:nvSpPr>
        <p:spPr>
          <a:xfrm>
            <a:off x="6867144" y="1828800"/>
            <a:ext cx="109728" cy="109728"/>
          </a:xfrm>
          <a:prstGeom prst="ellipse">
            <a:avLst/>
          </a:prstGeom>
          <a:solidFill>
            <a:srgbClr val="BFD9C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17"/>
          <p:cNvSpPr txBox="1"/>
          <p:nvPr/>
        </p:nvSpPr>
        <p:spPr>
          <a:xfrm>
            <a:off x="6473952" y="2148840"/>
            <a:ext cx="4837175" cy="5486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FFFCF7"/>
                </a:solidFill>
                <a:latin typeface="Courier New"/>
                <a:ea typeface="Courier New"/>
                <a:cs typeface="Courier New"/>
                <a:sym typeface="Courier New"/>
              </a:rPr>
              <a:t>jelly@macbook ~/project %</a:t>
            </a:r>
            <a:endParaRPr/>
          </a:p>
        </p:txBody>
      </p:sp>
      <p:sp>
        <p:nvSpPr>
          <p:cNvPr id="161" name="Google Shape;161;p17"/>
          <p:cNvSpPr txBox="1"/>
          <p:nvPr/>
        </p:nvSpPr>
        <p:spPr>
          <a:xfrm>
            <a:off x="1508760" y="3063240"/>
            <a:ext cx="3566160" cy="3200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153F32"/>
                </a:solidFill>
                <a:latin typeface="Arial"/>
                <a:ea typeface="Arial"/>
                <a:cs typeface="Arial"/>
                <a:sym typeface="Arial"/>
              </a:rPr>
              <a:t>Bash-style prompt</a:t>
            </a:r>
            <a:endParaRPr/>
          </a:p>
        </p:txBody>
      </p:sp>
      <p:sp>
        <p:nvSpPr>
          <p:cNvPr id="162" name="Google Shape;162;p17"/>
          <p:cNvSpPr txBox="1"/>
          <p:nvPr/>
        </p:nvSpPr>
        <p:spPr>
          <a:xfrm>
            <a:off x="7086600" y="3063240"/>
            <a:ext cx="3566160" cy="3200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2274B5"/>
                </a:solidFill>
                <a:latin typeface="Arial"/>
                <a:ea typeface="Arial"/>
                <a:cs typeface="Arial"/>
                <a:sym typeface="Arial"/>
              </a:rPr>
              <a:t>Zsh-style prompt</a:t>
            </a:r>
            <a:endParaRPr/>
          </a:p>
        </p:txBody>
      </p:sp>
      <p:sp>
        <p:nvSpPr>
          <p:cNvPr id="163" name="Google Shape;163;p17"/>
          <p:cNvSpPr/>
          <p:nvPr/>
        </p:nvSpPr>
        <p:spPr>
          <a:xfrm>
            <a:off x="640080" y="3886200"/>
            <a:ext cx="2560320" cy="123444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17"/>
          <p:cNvSpPr txBox="1"/>
          <p:nvPr/>
        </p:nvSpPr>
        <p:spPr>
          <a:xfrm>
            <a:off x="896112" y="4105656"/>
            <a:ext cx="2048255"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400">
                <a:solidFill>
                  <a:srgbClr val="261F1D"/>
                </a:solidFill>
                <a:latin typeface="Arial"/>
                <a:ea typeface="Arial"/>
                <a:cs typeface="Arial"/>
                <a:sym typeface="Arial"/>
              </a:rPr>
              <a:t>Username</a:t>
            </a:r>
            <a:endParaRPr/>
          </a:p>
        </p:txBody>
      </p:sp>
      <p:sp>
        <p:nvSpPr>
          <p:cNvPr id="165" name="Google Shape;165;p17"/>
          <p:cNvSpPr txBox="1"/>
          <p:nvPr/>
        </p:nvSpPr>
        <p:spPr>
          <a:xfrm>
            <a:off x="896112" y="4690872"/>
            <a:ext cx="2048255" cy="21031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100">
                <a:solidFill>
                  <a:srgbClr val="261F1D"/>
                </a:solidFill>
                <a:latin typeface="Arial"/>
                <a:ea typeface="Arial"/>
                <a:cs typeface="Arial"/>
                <a:sym typeface="Arial"/>
              </a:rPr>
              <a:t>who you are</a:t>
            </a:r>
            <a:endParaRPr/>
          </a:p>
        </p:txBody>
      </p:sp>
      <p:sp>
        <p:nvSpPr>
          <p:cNvPr id="166" name="Google Shape;166;p17"/>
          <p:cNvSpPr/>
          <p:nvPr/>
        </p:nvSpPr>
        <p:spPr>
          <a:xfrm>
            <a:off x="3429000" y="3886200"/>
            <a:ext cx="2560320" cy="123444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17"/>
          <p:cNvSpPr txBox="1"/>
          <p:nvPr/>
        </p:nvSpPr>
        <p:spPr>
          <a:xfrm>
            <a:off x="3685032" y="4105656"/>
            <a:ext cx="2048255"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400">
                <a:solidFill>
                  <a:srgbClr val="261F1D"/>
                </a:solidFill>
                <a:latin typeface="Arial"/>
                <a:ea typeface="Arial"/>
                <a:cs typeface="Arial"/>
                <a:sym typeface="Arial"/>
              </a:rPr>
              <a:t>Machine</a:t>
            </a:r>
            <a:endParaRPr/>
          </a:p>
        </p:txBody>
      </p:sp>
      <p:sp>
        <p:nvSpPr>
          <p:cNvPr id="168" name="Google Shape;168;p17"/>
          <p:cNvSpPr txBox="1"/>
          <p:nvPr/>
        </p:nvSpPr>
        <p:spPr>
          <a:xfrm>
            <a:off x="3685032" y="4690872"/>
            <a:ext cx="2048255" cy="21031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100">
                <a:solidFill>
                  <a:srgbClr val="261F1D"/>
                </a:solidFill>
                <a:latin typeface="Arial"/>
                <a:ea typeface="Arial"/>
                <a:cs typeface="Arial"/>
                <a:sym typeface="Arial"/>
              </a:rPr>
              <a:t>which computer</a:t>
            </a:r>
            <a:endParaRPr/>
          </a:p>
        </p:txBody>
      </p:sp>
      <p:sp>
        <p:nvSpPr>
          <p:cNvPr id="169" name="Google Shape;169;p17"/>
          <p:cNvSpPr/>
          <p:nvPr/>
        </p:nvSpPr>
        <p:spPr>
          <a:xfrm>
            <a:off x="6217920" y="3886200"/>
            <a:ext cx="2560320" cy="123444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17"/>
          <p:cNvSpPr txBox="1"/>
          <p:nvPr/>
        </p:nvSpPr>
        <p:spPr>
          <a:xfrm>
            <a:off x="6473952" y="4105656"/>
            <a:ext cx="2048255"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400">
                <a:solidFill>
                  <a:srgbClr val="261F1D"/>
                </a:solidFill>
                <a:latin typeface="Arial"/>
                <a:ea typeface="Arial"/>
                <a:cs typeface="Arial"/>
                <a:sym typeface="Arial"/>
              </a:rPr>
              <a:t>Folder</a:t>
            </a:r>
            <a:endParaRPr/>
          </a:p>
        </p:txBody>
      </p:sp>
      <p:sp>
        <p:nvSpPr>
          <p:cNvPr id="171" name="Google Shape;171;p17"/>
          <p:cNvSpPr txBox="1"/>
          <p:nvPr/>
        </p:nvSpPr>
        <p:spPr>
          <a:xfrm>
            <a:off x="6473952" y="4690872"/>
            <a:ext cx="2048255" cy="21031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100">
                <a:solidFill>
                  <a:srgbClr val="261F1D"/>
                </a:solidFill>
                <a:latin typeface="Arial"/>
                <a:ea typeface="Arial"/>
                <a:cs typeface="Arial"/>
                <a:sym typeface="Arial"/>
              </a:rPr>
              <a:t>where you are</a:t>
            </a:r>
            <a:endParaRPr/>
          </a:p>
        </p:txBody>
      </p:sp>
      <p:sp>
        <p:nvSpPr>
          <p:cNvPr id="172" name="Google Shape;172;p17"/>
          <p:cNvSpPr/>
          <p:nvPr/>
        </p:nvSpPr>
        <p:spPr>
          <a:xfrm>
            <a:off x="9006839" y="3886200"/>
            <a:ext cx="2560320" cy="1234440"/>
          </a:xfrm>
          <a:prstGeom prst="roundRect">
            <a:avLst>
              <a:gd fmla="val 16667" name="adj"/>
            </a:avLst>
          </a:prstGeom>
          <a:solidFill>
            <a:srgbClr val="FFF5DF"/>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7"/>
          <p:cNvSpPr txBox="1"/>
          <p:nvPr/>
        </p:nvSpPr>
        <p:spPr>
          <a:xfrm>
            <a:off x="9262871" y="4105656"/>
            <a:ext cx="2048255"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400">
                <a:solidFill>
                  <a:srgbClr val="261F1D"/>
                </a:solidFill>
                <a:latin typeface="Arial"/>
                <a:ea typeface="Arial"/>
                <a:cs typeface="Arial"/>
                <a:sym typeface="Arial"/>
              </a:rPr>
              <a:t>$ or %</a:t>
            </a:r>
            <a:endParaRPr/>
          </a:p>
        </p:txBody>
      </p:sp>
      <p:sp>
        <p:nvSpPr>
          <p:cNvPr id="174" name="Google Shape;174;p17"/>
          <p:cNvSpPr txBox="1"/>
          <p:nvPr/>
        </p:nvSpPr>
        <p:spPr>
          <a:xfrm>
            <a:off x="9262871" y="4690872"/>
            <a:ext cx="2048255" cy="21031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100">
                <a:solidFill>
                  <a:srgbClr val="261F1D"/>
                </a:solidFill>
                <a:latin typeface="Arial"/>
                <a:ea typeface="Arial"/>
                <a:cs typeface="Arial"/>
                <a:sym typeface="Arial"/>
              </a:rPr>
              <a:t>ready for input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179" name="Shape 179"/>
        <p:cNvGrpSpPr/>
        <p:nvPr/>
      </p:nvGrpSpPr>
      <p:grpSpPr>
        <a:xfrm>
          <a:off x="0" y="0"/>
          <a:ext cx="0" cy="0"/>
          <a:chOff x="0" y="0"/>
          <a:chExt cx="0" cy="0"/>
        </a:xfrm>
      </p:grpSpPr>
      <p:sp>
        <p:nvSpPr>
          <p:cNvPr id="180" name="Google Shape;180;p18"/>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Git and VS Code Do Different Jobs</a:t>
            </a:r>
            <a:endParaRPr/>
          </a:p>
        </p:txBody>
      </p:sp>
      <p:sp>
        <p:nvSpPr>
          <p:cNvPr id="181" name="Google Shape;181;p18"/>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182" name="Google Shape;182;p18"/>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183" name="Google Shape;183;p18"/>
          <p:cNvSpPr/>
          <p:nvPr/>
        </p:nvSpPr>
        <p:spPr>
          <a:xfrm>
            <a:off x="822960" y="1691640"/>
            <a:ext cx="5120640" cy="338328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18"/>
          <p:cNvSpPr txBox="1"/>
          <p:nvPr/>
        </p:nvSpPr>
        <p:spPr>
          <a:xfrm>
            <a:off x="1078992" y="1911095"/>
            <a:ext cx="4608575"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Git</a:t>
            </a:r>
            <a:endParaRPr/>
          </a:p>
        </p:txBody>
      </p:sp>
      <p:sp>
        <p:nvSpPr>
          <p:cNvPr id="185" name="Google Shape;185;p18"/>
          <p:cNvSpPr txBox="1"/>
          <p:nvPr/>
        </p:nvSpPr>
        <p:spPr>
          <a:xfrm>
            <a:off x="1078992" y="2496312"/>
            <a:ext cx="4608575" cy="23591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A safety net for your code</a:t>
            </a:r>
            <a:br>
              <a:rPr b="0" lang="en-US" sz="2500">
                <a:solidFill>
                  <a:srgbClr val="261F1D"/>
                </a:solidFill>
                <a:latin typeface="Arial"/>
                <a:ea typeface="Arial"/>
                <a:cs typeface="Arial"/>
                <a:sym typeface="Arial"/>
              </a:rPr>
            </a:br>
            <a:br>
              <a:rPr b="0" lang="en-US" sz="2500">
                <a:solidFill>
                  <a:srgbClr val="261F1D"/>
                </a:solidFill>
                <a:latin typeface="Arial"/>
                <a:ea typeface="Arial"/>
                <a:cs typeface="Arial"/>
                <a:sym typeface="Arial"/>
              </a:rPr>
            </a:br>
            <a:r>
              <a:rPr b="0" lang="en-US" sz="2500">
                <a:solidFill>
                  <a:srgbClr val="261F1D"/>
                </a:solidFill>
                <a:latin typeface="Arial"/>
                <a:ea typeface="Arial"/>
                <a:cs typeface="Arial"/>
                <a:sym typeface="Arial"/>
              </a:rPr>
              <a:t>Tracks changes so you can undo, compare, or combine work.</a:t>
            </a:r>
            <a:endParaRPr/>
          </a:p>
        </p:txBody>
      </p:sp>
      <p:sp>
        <p:nvSpPr>
          <p:cNvPr id="186" name="Google Shape;186;p18"/>
          <p:cNvSpPr/>
          <p:nvPr/>
        </p:nvSpPr>
        <p:spPr>
          <a:xfrm>
            <a:off x="6263640" y="1691640"/>
            <a:ext cx="5120640" cy="338328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18"/>
          <p:cNvSpPr txBox="1"/>
          <p:nvPr/>
        </p:nvSpPr>
        <p:spPr>
          <a:xfrm>
            <a:off x="6519672" y="1911095"/>
            <a:ext cx="4608575"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VS Code</a:t>
            </a:r>
            <a:endParaRPr/>
          </a:p>
        </p:txBody>
      </p:sp>
      <p:sp>
        <p:nvSpPr>
          <p:cNvPr id="188" name="Google Shape;188;p18"/>
          <p:cNvSpPr txBox="1"/>
          <p:nvPr/>
        </p:nvSpPr>
        <p:spPr>
          <a:xfrm>
            <a:off x="6519672" y="2496312"/>
            <a:ext cx="4608575" cy="23591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Where you’ll write your code</a:t>
            </a:r>
            <a:br>
              <a:rPr b="0" lang="en-US" sz="2500">
                <a:solidFill>
                  <a:srgbClr val="261F1D"/>
                </a:solidFill>
                <a:latin typeface="Arial"/>
                <a:ea typeface="Arial"/>
                <a:cs typeface="Arial"/>
                <a:sym typeface="Arial"/>
              </a:rPr>
            </a:br>
            <a:br>
              <a:rPr b="0" lang="en-US" sz="2500">
                <a:solidFill>
                  <a:srgbClr val="261F1D"/>
                </a:solidFill>
                <a:latin typeface="Arial"/>
                <a:ea typeface="Arial"/>
                <a:cs typeface="Arial"/>
                <a:sym typeface="Arial"/>
              </a:rPr>
            </a:br>
            <a:r>
              <a:rPr b="0" lang="en-US" sz="2500">
                <a:solidFill>
                  <a:srgbClr val="261F1D"/>
                </a:solidFill>
                <a:latin typeface="Arial"/>
                <a:ea typeface="Arial"/>
                <a:cs typeface="Arial"/>
                <a:sym typeface="Arial"/>
              </a:rPr>
              <a:t>Your day-to-day code editor.</a:t>
            </a:r>
            <a:endParaRPr/>
          </a:p>
        </p:txBody>
      </p:sp>
      <p:sp>
        <p:nvSpPr>
          <p:cNvPr id="189" name="Google Shape;189;p18"/>
          <p:cNvSpPr txBox="1"/>
          <p:nvPr/>
        </p:nvSpPr>
        <p:spPr>
          <a:xfrm>
            <a:off x="868680" y="5440680"/>
            <a:ext cx="10332720" cy="3200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Both are free to download.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F32"/>
        </a:solidFill>
      </p:bgPr>
    </p:bg>
    <p:spTree>
      <p:nvGrpSpPr>
        <p:cNvPr id="194" name="Shape 194"/>
        <p:cNvGrpSpPr/>
        <p:nvPr/>
      </p:nvGrpSpPr>
      <p:grpSpPr>
        <a:xfrm>
          <a:off x="0" y="0"/>
          <a:ext cx="0" cy="0"/>
          <a:chOff x="0" y="0"/>
          <a:chExt cx="0" cy="0"/>
        </a:xfrm>
      </p:grpSpPr>
      <p:sp>
        <p:nvSpPr>
          <p:cNvPr id="195" name="Google Shape;195;p19"/>
          <p:cNvSpPr txBox="1"/>
          <p:nvPr/>
        </p:nvSpPr>
        <p:spPr>
          <a:xfrm>
            <a:off x="658368" y="685800"/>
            <a:ext cx="3657600" cy="228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400">
                <a:solidFill>
                  <a:srgbClr val="F6D574"/>
                </a:solidFill>
                <a:latin typeface="Arial"/>
                <a:ea typeface="Arial"/>
                <a:cs typeface="Arial"/>
                <a:sym typeface="Arial"/>
              </a:rPr>
              <a:t>TOOLS NAMED</a:t>
            </a:r>
            <a:endParaRPr/>
          </a:p>
        </p:txBody>
      </p:sp>
      <p:sp>
        <p:nvSpPr>
          <p:cNvPr id="196" name="Google Shape;196;p19"/>
          <p:cNvSpPr txBox="1"/>
          <p:nvPr/>
        </p:nvSpPr>
        <p:spPr>
          <a:xfrm>
            <a:off x="658368" y="1389888"/>
            <a:ext cx="8412480" cy="10515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4000">
                <a:solidFill>
                  <a:srgbClr val="FFFCF7"/>
                </a:solidFill>
                <a:latin typeface="Arial"/>
                <a:ea typeface="Arial"/>
                <a:cs typeface="Arial"/>
                <a:sym typeface="Arial"/>
              </a:rPr>
              <a:t>Code Along: Confirm Your Setup</a:t>
            </a:r>
            <a:endParaRPr/>
          </a:p>
        </p:txBody>
      </p:sp>
      <p:sp>
        <p:nvSpPr>
          <p:cNvPr id="197" name="Google Shape;197;p19"/>
          <p:cNvSpPr txBox="1"/>
          <p:nvPr/>
        </p:nvSpPr>
        <p:spPr>
          <a:xfrm>
            <a:off x="658368" y="2743200"/>
            <a:ext cx="8046720" cy="12801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FFFCF7"/>
                </a:solidFill>
                <a:latin typeface="Arial"/>
                <a:ea typeface="Arial"/>
                <a:cs typeface="Arial"/>
                <a:sym typeface="Arial"/>
              </a:rPr>
              <a:t>Knowing what a tool is isn’t the same as knowing it actually works on your machine — let’s check.</a:t>
            </a:r>
            <a:endParaRPr/>
          </a:p>
        </p:txBody>
      </p:sp>
      <p:sp>
        <p:nvSpPr>
          <p:cNvPr id="198" name="Google Shape;198;p19"/>
          <p:cNvSpPr/>
          <p:nvPr/>
        </p:nvSpPr>
        <p:spPr>
          <a:xfrm>
            <a:off x="9509760" y="1554480"/>
            <a:ext cx="1508760" cy="1508760"/>
          </a:xfrm>
          <a:prstGeom prst="ellipse">
            <a:avLst/>
          </a:prstGeom>
          <a:solidFill>
            <a:srgbClr val="FFF5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9"/>
          <p:cNvSpPr txBox="1"/>
          <p:nvPr/>
        </p:nvSpPr>
        <p:spPr>
          <a:xfrm>
            <a:off x="9784080" y="1965960"/>
            <a:ext cx="91440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153F32"/>
                </a:solidFill>
                <a:latin typeface="Courier New"/>
                <a:ea typeface="Courier New"/>
                <a:cs typeface="Courier New"/>
                <a:sym typeface="Courier New"/>
              </a:rPr>
              <a:t>&gt;_</a:t>
            </a:r>
            <a:endParaRPr/>
          </a:p>
        </p:txBody>
      </p:sp>
      <p:sp>
        <p:nvSpPr>
          <p:cNvPr id="200" name="Google Shape;200;p19"/>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FFFCF7"/>
                </a:solidFill>
                <a:latin typeface="Arial"/>
                <a:ea typeface="Arial"/>
                <a:cs typeface="Arial"/>
                <a:sym typeface="Arial"/>
              </a:rPr>
              <a:t>MODULE 0  •  FOUNDATIONS</a:t>
            </a:r>
            <a:endParaRPr/>
          </a:p>
        </p:txBody>
      </p:sp>
      <p:pic>
        <p:nvPicPr>
          <p:cNvPr descr="image.png" id="201" name="Google Shape;201;p19"/>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06" name="Shape 206"/>
        <p:cNvGrpSpPr/>
        <p:nvPr/>
      </p:nvGrpSpPr>
      <p:grpSpPr>
        <a:xfrm>
          <a:off x="0" y="0"/>
          <a:ext cx="0" cy="0"/>
          <a:chOff x="0" y="0"/>
          <a:chExt cx="0" cy="0"/>
        </a:xfrm>
      </p:grpSpPr>
      <p:pic>
        <p:nvPicPr>
          <p:cNvPr id="207" name="Google Shape;207;p20"/>
          <p:cNvPicPr preferRelativeResize="0"/>
          <p:nvPr/>
        </p:nvPicPr>
        <p:blipFill rotWithShape="1">
          <a:blip r:embed="rId3">
            <a:alphaModFix/>
          </a:blip>
          <a:srcRect b="0" l="0" r="0" t="0"/>
          <a:stretch/>
        </p:blipFill>
        <p:spPr>
          <a:xfrm>
            <a:off x="9814255" y="6400800"/>
            <a:ext cx="1806983" cy="201168"/>
          </a:xfrm>
          <a:prstGeom prst="rect">
            <a:avLst/>
          </a:prstGeom>
          <a:noFill/>
          <a:ln>
            <a:noFill/>
          </a:ln>
        </p:spPr>
      </p:pic>
      <p:sp>
        <p:nvSpPr>
          <p:cNvPr id="208" name="Google Shape;208;p20"/>
          <p:cNvSpPr txBox="1"/>
          <p:nvPr/>
        </p:nvSpPr>
        <p:spPr>
          <a:xfrm>
            <a:off x="548640" y="457200"/>
            <a:ext cx="11094415"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00">
                <a:solidFill>
                  <a:srgbClr val="261F1D"/>
                </a:solidFill>
                <a:latin typeface="Helvetica Neue"/>
                <a:ea typeface="Helvetica Neue"/>
                <a:cs typeface="Helvetica Neue"/>
                <a:sym typeface="Helvetica Neue"/>
              </a:rPr>
              <a:t>Check Your Environment</a:t>
            </a:r>
            <a:endParaRPr/>
          </a:p>
        </p:txBody>
      </p:sp>
      <p:sp>
        <p:nvSpPr>
          <p:cNvPr id="209" name="Google Shape;209;p20"/>
          <p:cNvSpPr/>
          <p:nvPr/>
        </p:nvSpPr>
        <p:spPr>
          <a:xfrm>
            <a:off x="548640" y="1005840"/>
            <a:ext cx="11094415" cy="5349240"/>
          </a:xfrm>
          <a:prstGeom prst="roundRect">
            <a:avLst>
              <a:gd fmla="val 3500" name="adj"/>
            </a:avLst>
          </a:prstGeom>
          <a:solidFill>
            <a:srgbClr val="261F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20"/>
          <p:cNvSpPr/>
          <p:nvPr/>
        </p:nvSpPr>
        <p:spPr>
          <a:xfrm>
            <a:off x="731520" y="1197864"/>
            <a:ext cx="118872" cy="118872"/>
          </a:xfrm>
          <a:prstGeom prst="ellipse">
            <a:avLst/>
          </a:prstGeom>
          <a:solidFill>
            <a:srgbClr val="C929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20"/>
          <p:cNvSpPr/>
          <p:nvPr/>
        </p:nvSpPr>
        <p:spPr>
          <a:xfrm>
            <a:off x="932688" y="1197864"/>
            <a:ext cx="118872" cy="118872"/>
          </a:xfrm>
          <a:prstGeom prst="ellipse">
            <a:avLst/>
          </a:prstGeom>
          <a:solidFill>
            <a:srgbClr val="EEBC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20"/>
          <p:cNvSpPr/>
          <p:nvPr/>
        </p:nvSpPr>
        <p:spPr>
          <a:xfrm>
            <a:off x="1133856" y="1197864"/>
            <a:ext cx="118872" cy="118872"/>
          </a:xfrm>
          <a:prstGeom prst="ellipse">
            <a:avLst/>
          </a:prstGeom>
          <a:solidFill>
            <a:srgbClr val="327A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20"/>
          <p:cNvSpPr txBox="1"/>
          <p:nvPr/>
        </p:nvSpPr>
        <p:spPr>
          <a:xfrm>
            <a:off x="9448495" y="1005840"/>
            <a:ext cx="20116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US" sz="2600">
                <a:solidFill>
                  <a:srgbClr val="B3BBB0"/>
                </a:solidFill>
                <a:latin typeface="Roboto Mono"/>
                <a:ea typeface="Roboto Mono"/>
                <a:cs typeface="Roboto Mono"/>
                <a:sym typeface="Roboto Mono"/>
              </a:rPr>
              <a:t>bash</a:t>
            </a:r>
            <a:endParaRPr/>
          </a:p>
        </p:txBody>
      </p:sp>
      <p:sp>
        <p:nvSpPr>
          <p:cNvPr id="214" name="Google Shape;214;p20"/>
          <p:cNvSpPr txBox="1"/>
          <p:nvPr/>
        </p:nvSpPr>
        <p:spPr>
          <a:xfrm>
            <a:off x="804672" y="1636776"/>
            <a:ext cx="10582351" cy="45902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a:t>
            </a:r>
            <a:r>
              <a:rPr i="0" lang="en-US" sz="2600">
                <a:solidFill>
                  <a:srgbClr val="5996C7"/>
                </a:solidFill>
                <a:latin typeface="Roboto Mono"/>
                <a:ea typeface="Roboto Mono"/>
                <a:cs typeface="Roboto Mono"/>
                <a:sym typeface="Roboto Mono"/>
              </a:rPr>
              <a:t>echo</a:t>
            </a:r>
            <a:r>
              <a:rPr i="0" lang="en-US" sz="2600">
                <a:solidFill>
                  <a:srgbClr val="FFFCF7"/>
                </a:solidFill>
                <a:latin typeface="Roboto Mono"/>
                <a:ea typeface="Roboto Mono"/>
                <a:cs typeface="Roboto Mono"/>
                <a:sym typeface="Roboto Mono"/>
              </a:rPr>
              <a:t> $SHELL</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git --version</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code --version</a:t>
            </a:r>
            <a:endParaRPr/>
          </a:p>
          <a:p>
            <a:pPr indent="0" lvl="0" marL="0" marR="0" rtl="0" algn="l">
              <a:lnSpc>
                <a:spcPct val="120000"/>
              </a:lnSpc>
              <a:spcBef>
                <a:spcPts val="0"/>
              </a:spcBef>
              <a:spcAft>
                <a:spcPts val="0"/>
              </a:spcAft>
              <a:buNone/>
            </a:pPr>
            <a:r>
              <a:rPr i="1" lang="en-US" sz="2600">
                <a:solidFill>
                  <a:srgbClr val="B3BBB0"/>
                </a:solidFill>
                <a:latin typeface="Roboto Mono"/>
                <a:ea typeface="Roboto Mono"/>
                <a:cs typeface="Roboto Mono"/>
                <a:sym typeface="Roboto Mono"/>
              </a:rPr>
              <a:t># confirm git knows who you are - commits need this</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git config --global user.name</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git config --global user.email</a:t>
            </a:r>
            <a:endParaRPr/>
          </a:p>
          <a:p>
            <a:pPr indent="0" lvl="0" marL="0" marR="0" rtl="0" algn="l">
              <a:lnSpc>
                <a:spcPct val="120000"/>
              </a:lnSpc>
              <a:spcBef>
                <a:spcPts val="0"/>
              </a:spcBef>
              <a:spcAft>
                <a:spcPts val="0"/>
              </a:spcAft>
              <a:buNone/>
            </a:pPr>
            <a:r>
              <a:t/>
            </a:r>
            <a:endParaRPr i="0" sz="2600">
              <a:solidFill>
                <a:srgbClr val="FFFCF7"/>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19" name="Shape 219"/>
        <p:cNvGrpSpPr/>
        <p:nvPr/>
      </p:nvGrpSpPr>
      <p:grpSpPr>
        <a:xfrm>
          <a:off x="0" y="0"/>
          <a:ext cx="0" cy="0"/>
          <a:chOff x="0" y="0"/>
          <a:chExt cx="0" cy="0"/>
        </a:xfrm>
      </p:grpSpPr>
      <p:sp>
        <p:nvSpPr>
          <p:cNvPr id="220" name="Google Shape;220;p21"/>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If a Command Isn’t Found</a:t>
            </a:r>
            <a:endParaRPr/>
          </a:p>
        </p:txBody>
      </p:sp>
      <p:sp>
        <p:nvSpPr>
          <p:cNvPr id="221" name="Google Shape;221;p21"/>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222" name="Google Shape;222;p21"/>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223" name="Google Shape;223;p21"/>
          <p:cNvSpPr/>
          <p:nvPr/>
        </p:nvSpPr>
        <p:spPr>
          <a:xfrm>
            <a:off x="731520" y="1783080"/>
            <a:ext cx="3383280" cy="246888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21"/>
          <p:cNvSpPr txBox="1"/>
          <p:nvPr/>
        </p:nvSpPr>
        <p:spPr>
          <a:xfrm>
            <a:off x="987552" y="2002536"/>
            <a:ext cx="287121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1</a:t>
            </a:r>
            <a:endParaRPr/>
          </a:p>
        </p:txBody>
      </p:sp>
      <p:sp>
        <p:nvSpPr>
          <p:cNvPr id="225" name="Google Shape;225;p21"/>
          <p:cNvSpPr txBox="1"/>
          <p:nvPr/>
        </p:nvSpPr>
        <p:spPr>
          <a:xfrm>
            <a:off x="987552" y="2587752"/>
            <a:ext cx="2871216" cy="14447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Read the actual error message first</a:t>
            </a:r>
            <a:endParaRPr/>
          </a:p>
        </p:txBody>
      </p:sp>
      <p:sp>
        <p:nvSpPr>
          <p:cNvPr id="226" name="Google Shape;226;p21"/>
          <p:cNvSpPr/>
          <p:nvPr/>
        </p:nvSpPr>
        <p:spPr>
          <a:xfrm>
            <a:off x="4407408" y="1783080"/>
            <a:ext cx="3383280" cy="246888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21"/>
          <p:cNvSpPr txBox="1"/>
          <p:nvPr/>
        </p:nvSpPr>
        <p:spPr>
          <a:xfrm>
            <a:off x="4663440" y="2002536"/>
            <a:ext cx="287121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2</a:t>
            </a:r>
            <a:endParaRPr/>
          </a:p>
        </p:txBody>
      </p:sp>
      <p:sp>
        <p:nvSpPr>
          <p:cNvPr id="228" name="Google Shape;228;p21"/>
          <p:cNvSpPr txBox="1"/>
          <p:nvPr/>
        </p:nvSpPr>
        <p:spPr>
          <a:xfrm>
            <a:off x="4663440" y="2587752"/>
            <a:ext cx="2871216" cy="14447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Often means: not installed yet</a:t>
            </a:r>
            <a:endParaRPr/>
          </a:p>
        </p:txBody>
      </p:sp>
      <p:sp>
        <p:nvSpPr>
          <p:cNvPr id="229" name="Google Shape;229;p21"/>
          <p:cNvSpPr/>
          <p:nvPr/>
        </p:nvSpPr>
        <p:spPr>
          <a:xfrm>
            <a:off x="8083296" y="1783080"/>
            <a:ext cx="3383280" cy="246888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21"/>
          <p:cNvSpPr txBox="1"/>
          <p:nvPr/>
        </p:nvSpPr>
        <p:spPr>
          <a:xfrm>
            <a:off x="8339327" y="2002536"/>
            <a:ext cx="287121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3</a:t>
            </a:r>
            <a:endParaRPr/>
          </a:p>
        </p:txBody>
      </p:sp>
      <p:sp>
        <p:nvSpPr>
          <p:cNvPr id="231" name="Google Shape;231;p21"/>
          <p:cNvSpPr txBox="1"/>
          <p:nvPr/>
        </p:nvSpPr>
        <p:spPr>
          <a:xfrm>
            <a:off x="8339327" y="2587752"/>
            <a:ext cx="2871216" cy="14447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Ask — don’t guess-and-retry repeatedly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36" name="Shape 236"/>
        <p:cNvGrpSpPr/>
        <p:nvPr/>
      </p:nvGrpSpPr>
      <p:grpSpPr>
        <a:xfrm>
          <a:off x="0" y="0"/>
          <a:ext cx="0" cy="0"/>
          <a:chOff x="0" y="0"/>
          <a:chExt cx="0" cy="0"/>
        </a:xfrm>
      </p:grpSpPr>
      <p:pic>
        <p:nvPicPr>
          <p:cNvPr id="237" name="Google Shape;237;p22"/>
          <p:cNvPicPr preferRelativeResize="0"/>
          <p:nvPr/>
        </p:nvPicPr>
        <p:blipFill rotWithShape="1">
          <a:blip r:embed="rId3">
            <a:alphaModFix/>
          </a:blip>
          <a:srcRect b="0" l="0" r="0" t="0"/>
          <a:stretch/>
        </p:blipFill>
        <p:spPr>
          <a:xfrm>
            <a:off x="9814255" y="6400800"/>
            <a:ext cx="1806983" cy="201168"/>
          </a:xfrm>
          <a:prstGeom prst="rect">
            <a:avLst/>
          </a:prstGeom>
          <a:noFill/>
          <a:ln>
            <a:noFill/>
          </a:ln>
        </p:spPr>
      </p:pic>
      <p:sp>
        <p:nvSpPr>
          <p:cNvPr id="238" name="Google Shape;238;p22"/>
          <p:cNvSpPr txBox="1"/>
          <p:nvPr/>
        </p:nvSpPr>
        <p:spPr>
          <a:xfrm>
            <a:off x="548640" y="457200"/>
            <a:ext cx="11094415"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00">
                <a:solidFill>
                  <a:srgbClr val="261F1D"/>
                </a:solidFill>
                <a:latin typeface="Helvetica Neue"/>
                <a:ea typeface="Helvetica Neue"/>
                <a:cs typeface="Helvetica Neue"/>
                <a:sym typeface="Helvetica Neue"/>
              </a:rPr>
              <a:t>Look Before You Type</a:t>
            </a:r>
            <a:endParaRPr/>
          </a:p>
        </p:txBody>
      </p:sp>
      <p:sp>
        <p:nvSpPr>
          <p:cNvPr id="239" name="Google Shape;239;p22"/>
          <p:cNvSpPr/>
          <p:nvPr/>
        </p:nvSpPr>
        <p:spPr>
          <a:xfrm>
            <a:off x="548640" y="1005840"/>
            <a:ext cx="11094415" cy="5349240"/>
          </a:xfrm>
          <a:prstGeom prst="roundRect">
            <a:avLst>
              <a:gd fmla="val 3500" name="adj"/>
            </a:avLst>
          </a:prstGeom>
          <a:solidFill>
            <a:srgbClr val="261F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22"/>
          <p:cNvSpPr/>
          <p:nvPr/>
        </p:nvSpPr>
        <p:spPr>
          <a:xfrm>
            <a:off x="731520" y="1197864"/>
            <a:ext cx="118872" cy="118872"/>
          </a:xfrm>
          <a:prstGeom prst="ellipse">
            <a:avLst/>
          </a:prstGeom>
          <a:solidFill>
            <a:srgbClr val="C929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22"/>
          <p:cNvSpPr/>
          <p:nvPr/>
        </p:nvSpPr>
        <p:spPr>
          <a:xfrm>
            <a:off x="932688" y="1197864"/>
            <a:ext cx="118872" cy="118872"/>
          </a:xfrm>
          <a:prstGeom prst="ellipse">
            <a:avLst/>
          </a:prstGeom>
          <a:solidFill>
            <a:srgbClr val="EEBC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22"/>
          <p:cNvSpPr/>
          <p:nvPr/>
        </p:nvSpPr>
        <p:spPr>
          <a:xfrm>
            <a:off x="1133856" y="1197864"/>
            <a:ext cx="118872" cy="118872"/>
          </a:xfrm>
          <a:prstGeom prst="ellipse">
            <a:avLst/>
          </a:prstGeom>
          <a:solidFill>
            <a:srgbClr val="327A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22"/>
          <p:cNvSpPr txBox="1"/>
          <p:nvPr/>
        </p:nvSpPr>
        <p:spPr>
          <a:xfrm>
            <a:off x="9448495" y="1005840"/>
            <a:ext cx="20116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US" sz="2600">
                <a:solidFill>
                  <a:srgbClr val="B3BBB0"/>
                </a:solidFill>
                <a:latin typeface="Roboto Mono"/>
                <a:ea typeface="Roboto Mono"/>
                <a:cs typeface="Roboto Mono"/>
                <a:sym typeface="Roboto Mono"/>
              </a:rPr>
              <a:t>bash</a:t>
            </a:r>
            <a:endParaRPr/>
          </a:p>
        </p:txBody>
      </p:sp>
      <p:sp>
        <p:nvSpPr>
          <p:cNvPr id="244" name="Google Shape;244;p22"/>
          <p:cNvSpPr txBox="1"/>
          <p:nvPr/>
        </p:nvSpPr>
        <p:spPr>
          <a:xfrm>
            <a:off x="804672" y="1636776"/>
            <a:ext cx="10582351" cy="45902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i="1" lang="en-US" sz="2600">
                <a:solidFill>
                  <a:srgbClr val="B3BBB0"/>
                </a:solidFill>
                <a:latin typeface="Roboto Mono"/>
                <a:ea typeface="Roboto Mono"/>
                <a:cs typeface="Roboto Mono"/>
                <a:sym typeface="Roboto Mono"/>
              </a:rPr>
              <a:t># open a real data file in a plain text view BEFORE</a:t>
            </a:r>
            <a:endParaRPr/>
          </a:p>
          <a:p>
            <a:pPr indent="0" lvl="0" marL="0" marR="0" rtl="0" algn="l">
              <a:lnSpc>
                <a:spcPct val="120000"/>
              </a:lnSpc>
              <a:spcBef>
                <a:spcPts val="0"/>
              </a:spcBef>
              <a:spcAft>
                <a:spcPts val="0"/>
              </a:spcAft>
              <a:buNone/>
            </a:pPr>
            <a:r>
              <a:rPr i="1" lang="en-US" sz="2600">
                <a:solidFill>
                  <a:srgbClr val="B3BBB0"/>
                </a:solidFill>
                <a:latin typeface="Roboto Mono"/>
                <a:ea typeface="Roboto Mono"/>
                <a:cs typeface="Roboto Mono"/>
                <a:sym typeface="Roboto Mono"/>
              </a:rPr>
              <a:t># running any inspection command on it</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head -n </a:t>
            </a:r>
            <a:r>
              <a:rPr i="0" lang="en-US" sz="2600">
                <a:solidFill>
                  <a:srgbClr val="659B87"/>
                </a:solidFill>
                <a:latin typeface="Roboto Mono"/>
                <a:ea typeface="Roboto Mono"/>
                <a:cs typeface="Roboto Mono"/>
                <a:sym typeface="Roboto Mono"/>
              </a:rPr>
              <a:t>3</a:t>
            </a:r>
            <a:r>
              <a:rPr i="0" lang="en-US" sz="2600">
                <a:solidFill>
                  <a:srgbClr val="FFFCF7"/>
                </a:solidFill>
                <a:latin typeface="Roboto Mono"/>
                <a:ea typeface="Roboto Mono"/>
                <a:cs typeface="Roboto Mono"/>
                <a:sym typeface="Roboto Mono"/>
              </a:rPr>
              <a:t> data/energy_sample.csv</a:t>
            </a:r>
            <a:endParaRPr/>
          </a:p>
          <a:p>
            <a:pPr indent="0" lvl="0" marL="0" marR="0" rtl="0" algn="l">
              <a:lnSpc>
                <a:spcPct val="120000"/>
              </a:lnSpc>
              <a:spcBef>
                <a:spcPts val="0"/>
              </a:spcBef>
              <a:spcAft>
                <a:spcPts val="0"/>
              </a:spcAft>
              <a:buNone/>
            </a:pPr>
            <a:r>
              <a:t/>
            </a:r>
            <a:endParaRPr i="0" sz="2600">
              <a:solidFill>
                <a:srgbClr val="FFFCF7"/>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49" name="Shape 249"/>
        <p:cNvGrpSpPr/>
        <p:nvPr/>
      </p:nvGrpSpPr>
      <p:grpSpPr>
        <a:xfrm>
          <a:off x="0" y="0"/>
          <a:ext cx="0" cy="0"/>
          <a:chOff x="0" y="0"/>
          <a:chExt cx="0" cy="0"/>
        </a:xfrm>
      </p:grpSpPr>
      <p:sp>
        <p:nvSpPr>
          <p:cNvPr id="250" name="Google Shape;250;p23"/>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Two Ways to Say Where a File Is</a:t>
            </a:r>
            <a:endParaRPr/>
          </a:p>
        </p:txBody>
      </p:sp>
      <p:sp>
        <p:nvSpPr>
          <p:cNvPr id="251" name="Google Shape;251;p23"/>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252" name="Google Shape;252;p23"/>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253" name="Google Shape;253;p23"/>
          <p:cNvSpPr/>
          <p:nvPr/>
        </p:nvSpPr>
        <p:spPr>
          <a:xfrm>
            <a:off x="777240" y="1737360"/>
            <a:ext cx="5074920" cy="32004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23"/>
          <p:cNvSpPr txBox="1"/>
          <p:nvPr/>
        </p:nvSpPr>
        <p:spPr>
          <a:xfrm>
            <a:off x="1033271" y="195681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Relative</a:t>
            </a:r>
            <a:endParaRPr/>
          </a:p>
        </p:txBody>
      </p:sp>
      <p:sp>
        <p:nvSpPr>
          <p:cNvPr id="255" name="Google Shape;255;p23"/>
          <p:cNvSpPr txBox="1"/>
          <p:nvPr/>
        </p:nvSpPr>
        <p:spPr>
          <a:xfrm>
            <a:off x="1033271" y="2542032"/>
            <a:ext cx="4563000" cy="1637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600">
                <a:solidFill>
                  <a:srgbClr val="261F1D"/>
                </a:solidFill>
                <a:latin typeface="Arial"/>
                <a:ea typeface="Arial"/>
                <a:cs typeface="Arial"/>
                <a:sym typeface="Arial"/>
              </a:rPr>
              <a:t>Starting from where you already are</a:t>
            </a:r>
            <a:br>
              <a:rPr b="0" lang="en-US" sz="2600">
                <a:solidFill>
                  <a:srgbClr val="261F1D"/>
                </a:solidFill>
                <a:latin typeface="Arial"/>
                <a:ea typeface="Arial"/>
                <a:cs typeface="Arial"/>
                <a:sym typeface="Arial"/>
              </a:rPr>
            </a:br>
            <a:br>
              <a:rPr b="0" lang="en-US" sz="2600">
                <a:solidFill>
                  <a:srgbClr val="261F1D"/>
                </a:solidFill>
                <a:latin typeface="Arial"/>
                <a:ea typeface="Arial"/>
                <a:cs typeface="Arial"/>
                <a:sym typeface="Arial"/>
              </a:rPr>
            </a:br>
            <a:r>
              <a:rPr b="0" lang="en-US" sz="2600">
                <a:solidFill>
                  <a:srgbClr val="261F1D"/>
                </a:solidFill>
                <a:latin typeface="Arial"/>
                <a:ea typeface="Arial"/>
                <a:cs typeface="Arial"/>
                <a:sym typeface="Arial"/>
              </a:rPr>
              <a:t>`</a:t>
            </a:r>
            <a:r>
              <a:rPr b="1" lang="en-US" sz="2600">
                <a:solidFill>
                  <a:srgbClr val="261F1D"/>
                </a:solidFill>
              </a:rPr>
              <a:t>data/energy_sample.csv</a:t>
            </a:r>
            <a:r>
              <a:rPr b="0" lang="en-US" sz="2600">
                <a:solidFill>
                  <a:srgbClr val="261F1D"/>
                </a:solidFill>
                <a:latin typeface="Arial"/>
                <a:ea typeface="Arial"/>
                <a:cs typeface="Arial"/>
                <a:sym typeface="Arial"/>
              </a:rPr>
              <a:t>`</a:t>
            </a:r>
            <a:endParaRPr/>
          </a:p>
        </p:txBody>
      </p:sp>
      <p:sp>
        <p:nvSpPr>
          <p:cNvPr id="256" name="Google Shape;256;p23"/>
          <p:cNvSpPr/>
          <p:nvPr/>
        </p:nvSpPr>
        <p:spPr>
          <a:xfrm>
            <a:off x="6309360" y="1737360"/>
            <a:ext cx="5074920" cy="320040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23"/>
          <p:cNvSpPr txBox="1"/>
          <p:nvPr/>
        </p:nvSpPr>
        <p:spPr>
          <a:xfrm>
            <a:off x="6565392" y="195681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Absolute</a:t>
            </a:r>
            <a:endParaRPr/>
          </a:p>
        </p:txBody>
      </p:sp>
      <p:sp>
        <p:nvSpPr>
          <p:cNvPr id="258" name="Google Shape;258;p23"/>
          <p:cNvSpPr txBox="1"/>
          <p:nvPr/>
        </p:nvSpPr>
        <p:spPr>
          <a:xfrm>
            <a:off x="6565392" y="2542032"/>
            <a:ext cx="4563000" cy="1237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600">
                <a:solidFill>
                  <a:srgbClr val="261F1D"/>
                </a:solidFill>
                <a:latin typeface="Arial"/>
                <a:ea typeface="Arial"/>
                <a:cs typeface="Arial"/>
                <a:sym typeface="Arial"/>
              </a:rPr>
              <a:t>The full path from the top</a:t>
            </a:r>
            <a:br>
              <a:rPr b="0" lang="en-US" sz="2600">
                <a:solidFill>
                  <a:srgbClr val="261F1D"/>
                </a:solidFill>
                <a:latin typeface="Arial"/>
                <a:ea typeface="Arial"/>
                <a:cs typeface="Arial"/>
                <a:sym typeface="Arial"/>
              </a:rPr>
            </a:br>
            <a:br>
              <a:rPr b="0" lang="en-US" sz="2600">
                <a:solidFill>
                  <a:srgbClr val="261F1D"/>
                </a:solidFill>
                <a:latin typeface="Arial"/>
                <a:ea typeface="Arial"/>
                <a:cs typeface="Arial"/>
                <a:sym typeface="Arial"/>
              </a:rPr>
            </a:br>
            <a:r>
              <a:rPr b="0" lang="en-US" sz="2600">
                <a:solidFill>
                  <a:srgbClr val="261F1D"/>
                </a:solidFill>
                <a:latin typeface="Arial"/>
                <a:ea typeface="Arial"/>
                <a:cs typeface="Arial"/>
                <a:sym typeface="Arial"/>
              </a:rPr>
              <a:t>Starts with `</a:t>
            </a:r>
            <a:r>
              <a:rPr b="1" lang="en-US" sz="2600">
                <a:solidFill>
                  <a:srgbClr val="261F1D"/>
                </a:solidFill>
              </a:rPr>
              <a:t>/</a:t>
            </a:r>
            <a:r>
              <a:rPr b="0" lang="en-US" sz="2600">
                <a:solidFill>
                  <a:srgbClr val="261F1D"/>
                </a:solidFill>
                <a:latin typeface="Arial"/>
                <a:ea typeface="Arial"/>
                <a:cs typeface="Arial"/>
                <a:sym typeface="Arial"/>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F32"/>
        </a:solidFill>
      </p:bgPr>
    </p:bg>
    <p:spTree>
      <p:nvGrpSpPr>
        <p:cNvPr id="263" name="Shape 263"/>
        <p:cNvGrpSpPr/>
        <p:nvPr/>
      </p:nvGrpSpPr>
      <p:grpSpPr>
        <a:xfrm>
          <a:off x="0" y="0"/>
          <a:ext cx="0" cy="0"/>
          <a:chOff x="0" y="0"/>
          <a:chExt cx="0" cy="0"/>
        </a:xfrm>
      </p:grpSpPr>
      <p:sp>
        <p:nvSpPr>
          <p:cNvPr id="264" name="Google Shape;264;p24"/>
          <p:cNvSpPr txBox="1"/>
          <p:nvPr/>
        </p:nvSpPr>
        <p:spPr>
          <a:xfrm>
            <a:off x="658368" y="685800"/>
            <a:ext cx="3657600" cy="228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400">
                <a:solidFill>
                  <a:srgbClr val="F6D574"/>
                </a:solidFill>
                <a:latin typeface="Arial"/>
                <a:ea typeface="Arial"/>
                <a:cs typeface="Arial"/>
                <a:sym typeface="Arial"/>
              </a:rPr>
              <a:t>PATHS EXPLAINED</a:t>
            </a:r>
            <a:endParaRPr/>
          </a:p>
        </p:txBody>
      </p:sp>
      <p:sp>
        <p:nvSpPr>
          <p:cNvPr id="265" name="Google Shape;265;p24"/>
          <p:cNvSpPr txBox="1"/>
          <p:nvPr/>
        </p:nvSpPr>
        <p:spPr>
          <a:xfrm>
            <a:off x="658368" y="1389888"/>
            <a:ext cx="8412480" cy="10515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4000">
                <a:solidFill>
                  <a:srgbClr val="FFFCF7"/>
                </a:solidFill>
                <a:latin typeface="Arial"/>
                <a:ea typeface="Arial"/>
                <a:cs typeface="Arial"/>
                <a:sym typeface="Arial"/>
              </a:rPr>
              <a:t>Code Along: Find Your Way Around</a:t>
            </a:r>
            <a:endParaRPr/>
          </a:p>
        </p:txBody>
      </p:sp>
      <p:sp>
        <p:nvSpPr>
          <p:cNvPr id="266" name="Google Shape;266;p24"/>
          <p:cNvSpPr txBox="1"/>
          <p:nvPr/>
        </p:nvSpPr>
        <p:spPr>
          <a:xfrm>
            <a:off x="658368" y="2743200"/>
            <a:ext cx="8046720" cy="12801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FFFCF7"/>
                </a:solidFill>
                <a:latin typeface="Arial"/>
                <a:ea typeface="Arial"/>
                <a:cs typeface="Arial"/>
                <a:sym typeface="Arial"/>
              </a:rPr>
              <a:t>Relative and absolute are just words until you actually navigate with them.</a:t>
            </a:r>
            <a:endParaRPr/>
          </a:p>
        </p:txBody>
      </p:sp>
      <p:sp>
        <p:nvSpPr>
          <p:cNvPr id="267" name="Google Shape;267;p24"/>
          <p:cNvSpPr/>
          <p:nvPr/>
        </p:nvSpPr>
        <p:spPr>
          <a:xfrm>
            <a:off x="9509760" y="1554480"/>
            <a:ext cx="1508760" cy="1508760"/>
          </a:xfrm>
          <a:prstGeom prst="ellipse">
            <a:avLst/>
          </a:prstGeom>
          <a:solidFill>
            <a:srgbClr val="FFF5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24"/>
          <p:cNvSpPr txBox="1"/>
          <p:nvPr/>
        </p:nvSpPr>
        <p:spPr>
          <a:xfrm>
            <a:off x="9784080" y="1965960"/>
            <a:ext cx="91440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153F32"/>
                </a:solidFill>
                <a:latin typeface="Courier New"/>
                <a:ea typeface="Courier New"/>
                <a:cs typeface="Courier New"/>
                <a:sym typeface="Courier New"/>
              </a:rPr>
              <a:t>&gt;_</a:t>
            </a:r>
            <a:endParaRPr/>
          </a:p>
        </p:txBody>
      </p:sp>
      <p:sp>
        <p:nvSpPr>
          <p:cNvPr id="269" name="Google Shape;269;p24"/>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FFFCF7"/>
                </a:solidFill>
                <a:latin typeface="Arial"/>
                <a:ea typeface="Arial"/>
                <a:cs typeface="Arial"/>
                <a:sym typeface="Arial"/>
              </a:rPr>
              <a:t>MODULE 0  •  FOUNDATIONS</a:t>
            </a:r>
            <a:endParaRPr/>
          </a:p>
        </p:txBody>
      </p:sp>
      <p:pic>
        <p:nvPicPr>
          <p:cNvPr descr="image.png" id="270" name="Google Shape;270;p24"/>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75" name="Shape 275"/>
        <p:cNvGrpSpPr/>
        <p:nvPr/>
      </p:nvGrpSpPr>
      <p:grpSpPr>
        <a:xfrm>
          <a:off x="0" y="0"/>
          <a:ext cx="0" cy="0"/>
          <a:chOff x="0" y="0"/>
          <a:chExt cx="0" cy="0"/>
        </a:xfrm>
      </p:grpSpPr>
      <p:pic>
        <p:nvPicPr>
          <p:cNvPr id="276" name="Google Shape;276;p25"/>
          <p:cNvPicPr preferRelativeResize="0"/>
          <p:nvPr/>
        </p:nvPicPr>
        <p:blipFill rotWithShape="1">
          <a:blip r:embed="rId3">
            <a:alphaModFix/>
          </a:blip>
          <a:srcRect b="0" l="0" r="0" t="0"/>
          <a:stretch/>
        </p:blipFill>
        <p:spPr>
          <a:xfrm>
            <a:off x="9814255" y="6400800"/>
            <a:ext cx="1806983" cy="201168"/>
          </a:xfrm>
          <a:prstGeom prst="rect">
            <a:avLst/>
          </a:prstGeom>
          <a:noFill/>
          <a:ln>
            <a:noFill/>
          </a:ln>
        </p:spPr>
      </p:pic>
      <p:sp>
        <p:nvSpPr>
          <p:cNvPr id="277" name="Google Shape;277;p25"/>
          <p:cNvSpPr txBox="1"/>
          <p:nvPr/>
        </p:nvSpPr>
        <p:spPr>
          <a:xfrm>
            <a:off x="548640" y="457200"/>
            <a:ext cx="11094415"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00">
                <a:solidFill>
                  <a:srgbClr val="261F1D"/>
                </a:solidFill>
                <a:latin typeface="Helvetica Neue"/>
                <a:ea typeface="Helvetica Neue"/>
                <a:cs typeface="Helvetica Neue"/>
                <a:sym typeface="Helvetica Neue"/>
              </a:rPr>
              <a:t>Find Your Way Around</a:t>
            </a:r>
            <a:endParaRPr/>
          </a:p>
        </p:txBody>
      </p:sp>
      <p:sp>
        <p:nvSpPr>
          <p:cNvPr id="278" name="Google Shape;278;p25"/>
          <p:cNvSpPr/>
          <p:nvPr/>
        </p:nvSpPr>
        <p:spPr>
          <a:xfrm>
            <a:off x="548640" y="1005840"/>
            <a:ext cx="11094415" cy="5349240"/>
          </a:xfrm>
          <a:prstGeom prst="roundRect">
            <a:avLst>
              <a:gd fmla="val 3500" name="adj"/>
            </a:avLst>
          </a:prstGeom>
          <a:solidFill>
            <a:srgbClr val="261F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25"/>
          <p:cNvSpPr/>
          <p:nvPr/>
        </p:nvSpPr>
        <p:spPr>
          <a:xfrm>
            <a:off x="731520" y="1197864"/>
            <a:ext cx="118872" cy="118872"/>
          </a:xfrm>
          <a:prstGeom prst="ellipse">
            <a:avLst/>
          </a:prstGeom>
          <a:solidFill>
            <a:srgbClr val="C929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5"/>
          <p:cNvSpPr/>
          <p:nvPr/>
        </p:nvSpPr>
        <p:spPr>
          <a:xfrm>
            <a:off x="932688" y="1197864"/>
            <a:ext cx="118872" cy="118872"/>
          </a:xfrm>
          <a:prstGeom prst="ellipse">
            <a:avLst/>
          </a:prstGeom>
          <a:solidFill>
            <a:srgbClr val="EEBC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5"/>
          <p:cNvSpPr/>
          <p:nvPr/>
        </p:nvSpPr>
        <p:spPr>
          <a:xfrm>
            <a:off x="1133856" y="1197864"/>
            <a:ext cx="118872" cy="118872"/>
          </a:xfrm>
          <a:prstGeom prst="ellipse">
            <a:avLst/>
          </a:prstGeom>
          <a:solidFill>
            <a:srgbClr val="327A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25"/>
          <p:cNvSpPr txBox="1"/>
          <p:nvPr/>
        </p:nvSpPr>
        <p:spPr>
          <a:xfrm>
            <a:off x="9448495" y="1005840"/>
            <a:ext cx="20116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US" sz="2600">
                <a:solidFill>
                  <a:srgbClr val="B3BBB0"/>
                </a:solidFill>
                <a:latin typeface="Roboto Mono"/>
                <a:ea typeface="Roboto Mono"/>
                <a:cs typeface="Roboto Mono"/>
                <a:sym typeface="Roboto Mono"/>
              </a:rPr>
              <a:t>bash</a:t>
            </a:r>
            <a:endParaRPr/>
          </a:p>
        </p:txBody>
      </p:sp>
      <p:sp>
        <p:nvSpPr>
          <p:cNvPr id="283" name="Google Shape;283;p25"/>
          <p:cNvSpPr txBox="1"/>
          <p:nvPr/>
        </p:nvSpPr>
        <p:spPr>
          <a:xfrm>
            <a:off x="804672" y="1636776"/>
            <a:ext cx="10582351" cy="45902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a:t>
            </a:r>
            <a:r>
              <a:rPr i="0" lang="en-US" sz="2600">
                <a:solidFill>
                  <a:srgbClr val="5996C7"/>
                </a:solidFill>
                <a:latin typeface="Roboto Mono"/>
                <a:ea typeface="Roboto Mono"/>
                <a:cs typeface="Roboto Mono"/>
                <a:sym typeface="Roboto Mono"/>
              </a:rPr>
              <a:t>pwd</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ls</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a:t>
            </a:r>
            <a:r>
              <a:rPr i="0" lang="en-US" sz="2600">
                <a:solidFill>
                  <a:srgbClr val="5996C7"/>
                </a:solidFill>
                <a:latin typeface="Roboto Mono"/>
                <a:ea typeface="Roboto Mono"/>
                <a:cs typeface="Roboto Mono"/>
                <a:sym typeface="Roboto Mono"/>
              </a:rPr>
              <a:t>cd</a:t>
            </a:r>
            <a:r>
              <a:rPr i="0" lang="en-US" sz="2600">
                <a:solidFill>
                  <a:srgbClr val="FFFCF7"/>
                </a:solidFill>
                <a:latin typeface="Roboto Mono"/>
                <a:ea typeface="Roboto Mono"/>
                <a:cs typeface="Roboto Mono"/>
                <a:sym typeface="Roboto Mono"/>
              </a:rPr>
              <a:t> modules</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ls</a:t>
            </a:r>
            <a:endParaRPr/>
          </a:p>
          <a:p>
            <a:pPr indent="0" lvl="0" marL="0" marR="0" rtl="0" algn="l">
              <a:lnSpc>
                <a:spcPct val="120000"/>
              </a:lnSpc>
              <a:spcBef>
                <a:spcPts val="0"/>
              </a:spcBef>
              <a:spcAft>
                <a:spcPts val="0"/>
              </a:spcAft>
              <a:buNone/>
            </a:pPr>
            <a:r>
              <a:t/>
            </a:r>
            <a:endParaRPr i="0" sz="2600">
              <a:solidFill>
                <a:srgbClr val="FFFCF7"/>
              </a:solidFill>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288" name="Shape 288"/>
        <p:cNvGrpSpPr/>
        <p:nvPr/>
      </p:nvGrpSpPr>
      <p:grpSpPr>
        <a:xfrm>
          <a:off x="0" y="0"/>
          <a:ext cx="0" cy="0"/>
          <a:chOff x="0" y="0"/>
          <a:chExt cx="0" cy="0"/>
        </a:xfrm>
      </p:grpSpPr>
      <p:sp>
        <p:nvSpPr>
          <p:cNvPr id="289" name="Google Shape;289;p26"/>
          <p:cNvSpPr/>
          <p:nvPr/>
        </p:nvSpPr>
        <p:spPr>
          <a:xfrm>
            <a:off x="566928" y="310896"/>
            <a:ext cx="2331720" cy="384048"/>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26"/>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DISCUSS</a:t>
            </a:r>
            <a:endParaRPr/>
          </a:p>
        </p:txBody>
      </p:sp>
      <p:sp>
        <p:nvSpPr>
          <p:cNvPr id="291" name="Google Shape;291;p26"/>
          <p:cNvSpPr txBox="1"/>
          <p:nvPr/>
        </p:nvSpPr>
        <p:spPr>
          <a:xfrm>
            <a:off x="566928" y="749808"/>
            <a:ext cx="10698600" cy="560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Would You Rather?</a:t>
            </a:r>
            <a:endParaRPr/>
          </a:p>
        </p:txBody>
      </p:sp>
      <p:sp>
        <p:nvSpPr>
          <p:cNvPr id="292" name="Google Shape;292;p26"/>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293" name="Google Shape;293;p26"/>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294" name="Google Shape;294;p26"/>
          <p:cNvSpPr/>
          <p:nvPr/>
        </p:nvSpPr>
        <p:spPr>
          <a:xfrm>
            <a:off x="822960" y="1874519"/>
            <a:ext cx="5074920" cy="265176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26"/>
          <p:cNvSpPr txBox="1"/>
          <p:nvPr/>
        </p:nvSpPr>
        <p:spPr>
          <a:xfrm>
            <a:off x="1078992" y="2093976"/>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Click</a:t>
            </a:r>
            <a:endParaRPr/>
          </a:p>
        </p:txBody>
      </p:sp>
      <p:sp>
        <p:nvSpPr>
          <p:cNvPr id="296" name="Google Shape;296;p26"/>
          <p:cNvSpPr txBox="1"/>
          <p:nvPr/>
        </p:nvSpPr>
        <p:spPr>
          <a:xfrm>
            <a:off x="1078992" y="2679191"/>
            <a:ext cx="4562856" cy="162763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800">
                <a:solidFill>
                  <a:srgbClr val="261F1D"/>
                </a:solidFill>
                <a:latin typeface="Arial"/>
                <a:ea typeface="Arial"/>
                <a:cs typeface="Arial"/>
                <a:sym typeface="Arial"/>
              </a:rPr>
              <a:t>Navigate by clicking through folders</a:t>
            </a:r>
            <a:endParaRPr/>
          </a:p>
        </p:txBody>
      </p:sp>
      <p:sp>
        <p:nvSpPr>
          <p:cNvPr id="297" name="Google Shape;297;p26"/>
          <p:cNvSpPr/>
          <p:nvPr/>
        </p:nvSpPr>
        <p:spPr>
          <a:xfrm>
            <a:off x="6309360" y="1874519"/>
            <a:ext cx="5074920" cy="265176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26"/>
          <p:cNvSpPr txBox="1"/>
          <p:nvPr/>
        </p:nvSpPr>
        <p:spPr>
          <a:xfrm>
            <a:off x="6565392" y="2093976"/>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Type</a:t>
            </a:r>
            <a:endParaRPr/>
          </a:p>
        </p:txBody>
      </p:sp>
      <p:sp>
        <p:nvSpPr>
          <p:cNvPr id="299" name="Google Shape;299;p26"/>
          <p:cNvSpPr txBox="1"/>
          <p:nvPr/>
        </p:nvSpPr>
        <p:spPr>
          <a:xfrm>
            <a:off x="6565392" y="2679191"/>
            <a:ext cx="4562856" cy="162763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800">
                <a:solidFill>
                  <a:srgbClr val="261F1D"/>
                </a:solidFill>
                <a:latin typeface="Arial"/>
                <a:ea typeface="Arial"/>
                <a:cs typeface="Arial"/>
                <a:sym typeface="Arial"/>
              </a:rPr>
              <a:t>Navigate with `pwd` / `ls` / `cd`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304" name="Shape 304"/>
        <p:cNvGrpSpPr/>
        <p:nvPr/>
      </p:nvGrpSpPr>
      <p:grpSpPr>
        <a:xfrm>
          <a:off x="0" y="0"/>
          <a:ext cx="0" cy="0"/>
          <a:chOff x="0" y="0"/>
          <a:chExt cx="0" cy="0"/>
        </a:xfrm>
      </p:grpSpPr>
      <p:pic>
        <p:nvPicPr>
          <p:cNvPr id="305" name="Google Shape;305;p27"/>
          <p:cNvPicPr preferRelativeResize="0"/>
          <p:nvPr/>
        </p:nvPicPr>
        <p:blipFill rotWithShape="1">
          <a:blip r:embed="rId3">
            <a:alphaModFix/>
          </a:blip>
          <a:srcRect b="0" l="0" r="0" t="0"/>
          <a:stretch/>
        </p:blipFill>
        <p:spPr>
          <a:xfrm>
            <a:off x="9814255" y="6400800"/>
            <a:ext cx="1806983" cy="201168"/>
          </a:xfrm>
          <a:prstGeom prst="rect">
            <a:avLst/>
          </a:prstGeom>
          <a:noFill/>
          <a:ln>
            <a:noFill/>
          </a:ln>
        </p:spPr>
      </p:pic>
      <p:sp>
        <p:nvSpPr>
          <p:cNvPr id="306" name="Google Shape;306;p27"/>
          <p:cNvSpPr txBox="1"/>
          <p:nvPr/>
        </p:nvSpPr>
        <p:spPr>
          <a:xfrm>
            <a:off x="548640" y="457200"/>
            <a:ext cx="11094415"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200">
                <a:solidFill>
                  <a:srgbClr val="261F1D"/>
                </a:solidFill>
                <a:latin typeface="Helvetica Neue"/>
                <a:ea typeface="Helvetica Neue"/>
                <a:cs typeface="Helvetica Neue"/>
                <a:sym typeface="Helvetica Neue"/>
              </a:rPr>
              <a:t>A Typo Looks Like This</a:t>
            </a:r>
            <a:endParaRPr/>
          </a:p>
        </p:txBody>
      </p:sp>
      <p:sp>
        <p:nvSpPr>
          <p:cNvPr id="307" name="Google Shape;307;p27"/>
          <p:cNvSpPr/>
          <p:nvPr/>
        </p:nvSpPr>
        <p:spPr>
          <a:xfrm>
            <a:off x="548640" y="1005840"/>
            <a:ext cx="11094415" cy="5349240"/>
          </a:xfrm>
          <a:prstGeom prst="roundRect">
            <a:avLst>
              <a:gd fmla="val 3500" name="adj"/>
            </a:avLst>
          </a:prstGeom>
          <a:solidFill>
            <a:srgbClr val="261F1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27"/>
          <p:cNvSpPr/>
          <p:nvPr/>
        </p:nvSpPr>
        <p:spPr>
          <a:xfrm>
            <a:off x="731520" y="1197864"/>
            <a:ext cx="118872" cy="118872"/>
          </a:xfrm>
          <a:prstGeom prst="ellipse">
            <a:avLst/>
          </a:prstGeom>
          <a:solidFill>
            <a:srgbClr val="C9292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27"/>
          <p:cNvSpPr/>
          <p:nvPr/>
        </p:nvSpPr>
        <p:spPr>
          <a:xfrm>
            <a:off x="932688" y="1197864"/>
            <a:ext cx="118872" cy="118872"/>
          </a:xfrm>
          <a:prstGeom prst="ellipse">
            <a:avLst/>
          </a:prstGeom>
          <a:solidFill>
            <a:srgbClr val="EEBC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27"/>
          <p:cNvSpPr/>
          <p:nvPr/>
        </p:nvSpPr>
        <p:spPr>
          <a:xfrm>
            <a:off x="1133856" y="1197864"/>
            <a:ext cx="118872" cy="118872"/>
          </a:xfrm>
          <a:prstGeom prst="ellipse">
            <a:avLst/>
          </a:prstGeom>
          <a:solidFill>
            <a:srgbClr val="327A5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7"/>
          <p:cNvSpPr txBox="1"/>
          <p:nvPr/>
        </p:nvSpPr>
        <p:spPr>
          <a:xfrm>
            <a:off x="9448495" y="1005840"/>
            <a:ext cx="20116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None/>
            </a:pPr>
            <a:r>
              <a:rPr b="0" i="0" lang="en-US" sz="2600">
                <a:solidFill>
                  <a:srgbClr val="B3BBB0"/>
                </a:solidFill>
                <a:latin typeface="Roboto Mono"/>
                <a:ea typeface="Roboto Mono"/>
                <a:cs typeface="Roboto Mono"/>
                <a:sym typeface="Roboto Mono"/>
              </a:rPr>
              <a:t>bash</a:t>
            </a:r>
            <a:endParaRPr/>
          </a:p>
        </p:txBody>
      </p:sp>
      <p:sp>
        <p:nvSpPr>
          <p:cNvPr id="312" name="Google Shape;312;p27"/>
          <p:cNvSpPr txBox="1"/>
          <p:nvPr/>
        </p:nvSpPr>
        <p:spPr>
          <a:xfrm>
            <a:off x="804672" y="1636776"/>
            <a:ext cx="10582351" cy="459028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None/>
            </a:pPr>
            <a:r>
              <a:rPr i="1" lang="en-US" sz="2600">
                <a:solidFill>
                  <a:srgbClr val="B3BBB0"/>
                </a:solidFill>
                <a:latin typeface="Roboto Mono"/>
                <a:ea typeface="Roboto Mono"/>
                <a:cs typeface="Roboto Mono"/>
                <a:sym typeface="Roboto Mono"/>
              </a:rPr>
              <a:t># a genuine typo - not a real command anywhere</a:t>
            </a:r>
            <a:endParaRPr/>
          </a:p>
          <a:p>
            <a:pPr indent="0" lvl="0" marL="0" marR="0" rtl="0" algn="l">
              <a:lnSpc>
                <a:spcPct val="120000"/>
              </a:lnSpc>
              <a:spcBef>
                <a:spcPts val="0"/>
              </a:spcBef>
              <a:spcAft>
                <a:spcPts val="0"/>
              </a:spcAft>
              <a:buNone/>
            </a:pPr>
            <a:r>
              <a:rPr i="0" lang="en-US" sz="2600">
                <a:solidFill>
                  <a:srgbClr val="FFFCF7"/>
                </a:solidFill>
                <a:latin typeface="Roboto Mono"/>
                <a:ea typeface="Roboto Mono"/>
                <a:cs typeface="Roboto Mono"/>
                <a:sym typeface="Roboto Mono"/>
              </a:rPr>
              <a:t>$ gti status</a:t>
            </a:r>
            <a:endParaRPr/>
          </a:p>
          <a:p>
            <a:pPr indent="0" lvl="0" marL="0" marR="0" rtl="0" algn="l">
              <a:lnSpc>
                <a:spcPct val="120000"/>
              </a:lnSpc>
              <a:spcBef>
                <a:spcPts val="0"/>
              </a:spcBef>
              <a:spcAft>
                <a:spcPts val="0"/>
              </a:spcAft>
              <a:buNone/>
            </a:pPr>
            <a:r>
              <a:t/>
            </a:r>
            <a:endParaRPr i="0" sz="2600">
              <a:solidFill>
                <a:srgbClr val="FFFCF7"/>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F32"/>
        </a:solidFill>
      </p:bgPr>
    </p:bg>
    <p:spTree>
      <p:nvGrpSpPr>
        <p:cNvPr id="317" name="Shape 317"/>
        <p:cNvGrpSpPr/>
        <p:nvPr/>
      </p:nvGrpSpPr>
      <p:grpSpPr>
        <a:xfrm>
          <a:off x="0" y="0"/>
          <a:ext cx="0" cy="0"/>
          <a:chOff x="0" y="0"/>
          <a:chExt cx="0" cy="0"/>
        </a:xfrm>
      </p:grpSpPr>
      <p:sp>
        <p:nvSpPr>
          <p:cNvPr id="318" name="Google Shape;318;p28"/>
          <p:cNvSpPr txBox="1"/>
          <p:nvPr/>
        </p:nvSpPr>
        <p:spPr>
          <a:xfrm>
            <a:off x="658368" y="685800"/>
            <a:ext cx="3657600" cy="228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400">
                <a:solidFill>
                  <a:srgbClr val="F6D574"/>
                </a:solidFill>
                <a:latin typeface="Arial"/>
                <a:ea typeface="Arial"/>
                <a:cs typeface="Arial"/>
                <a:sym typeface="Arial"/>
              </a:rPr>
              <a:t>TOOLS READY</a:t>
            </a:r>
            <a:endParaRPr/>
          </a:p>
        </p:txBody>
      </p:sp>
      <p:sp>
        <p:nvSpPr>
          <p:cNvPr id="319" name="Google Shape;319;p28"/>
          <p:cNvSpPr txBox="1"/>
          <p:nvPr/>
        </p:nvSpPr>
        <p:spPr>
          <a:xfrm>
            <a:off x="658368" y="1389888"/>
            <a:ext cx="8412480" cy="10515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4000">
                <a:solidFill>
                  <a:srgbClr val="FFFCF7"/>
                </a:solidFill>
                <a:latin typeface="Arial"/>
                <a:ea typeface="Arial"/>
                <a:cs typeface="Arial"/>
                <a:sym typeface="Arial"/>
              </a:rPr>
              <a:t>The Vocabulary You’ll Use Every Day</a:t>
            </a:r>
            <a:endParaRPr/>
          </a:p>
        </p:txBody>
      </p:sp>
      <p:sp>
        <p:nvSpPr>
          <p:cNvPr id="320" name="Google Shape;320;p28"/>
          <p:cNvSpPr txBox="1"/>
          <p:nvPr/>
        </p:nvSpPr>
        <p:spPr>
          <a:xfrm>
            <a:off x="658368" y="2743200"/>
            <a:ext cx="8046720" cy="12801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FFFCF7"/>
                </a:solidFill>
                <a:latin typeface="Arial"/>
                <a:ea typeface="Arial"/>
                <a:cs typeface="Arial"/>
                <a:sym typeface="Arial"/>
              </a:rPr>
              <a:t>A working terminal doesn’t tell you what you’re actually looking at once you’re in it — that’s next.</a:t>
            </a:r>
            <a:endParaRPr/>
          </a:p>
        </p:txBody>
      </p:sp>
      <p:sp>
        <p:nvSpPr>
          <p:cNvPr id="321" name="Google Shape;321;p28"/>
          <p:cNvSpPr/>
          <p:nvPr/>
        </p:nvSpPr>
        <p:spPr>
          <a:xfrm>
            <a:off x="9509760" y="1554480"/>
            <a:ext cx="1508760" cy="1508760"/>
          </a:xfrm>
          <a:prstGeom prst="ellipse">
            <a:avLst/>
          </a:prstGeom>
          <a:solidFill>
            <a:srgbClr val="FFF5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28"/>
          <p:cNvSpPr txBox="1"/>
          <p:nvPr/>
        </p:nvSpPr>
        <p:spPr>
          <a:xfrm>
            <a:off x="9784080" y="1965960"/>
            <a:ext cx="91440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153F32"/>
                </a:solidFill>
                <a:latin typeface="Courier New"/>
                <a:ea typeface="Courier New"/>
                <a:cs typeface="Courier New"/>
                <a:sym typeface="Courier New"/>
              </a:rPr>
              <a:t>&gt;_</a:t>
            </a:r>
            <a:endParaRPr/>
          </a:p>
        </p:txBody>
      </p:sp>
      <p:sp>
        <p:nvSpPr>
          <p:cNvPr id="323" name="Google Shape;323;p28"/>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FFFCF7"/>
                </a:solidFill>
                <a:latin typeface="Arial"/>
                <a:ea typeface="Arial"/>
                <a:cs typeface="Arial"/>
                <a:sym typeface="Arial"/>
              </a:rPr>
              <a:t>MODULE 0  •  FOUNDATIONS</a:t>
            </a:r>
            <a:endParaRPr/>
          </a:p>
        </p:txBody>
      </p:sp>
      <p:pic>
        <p:nvPicPr>
          <p:cNvPr descr="image.png" id="324" name="Google Shape;324;p28"/>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329" name="Shape 329"/>
        <p:cNvGrpSpPr/>
        <p:nvPr/>
      </p:nvGrpSpPr>
      <p:grpSpPr>
        <a:xfrm>
          <a:off x="0" y="0"/>
          <a:ext cx="0" cy="0"/>
          <a:chOff x="0" y="0"/>
          <a:chExt cx="0" cy="0"/>
        </a:xfrm>
      </p:grpSpPr>
      <p:sp>
        <p:nvSpPr>
          <p:cNvPr id="330" name="Google Shape;330;p29"/>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Four Terms You’ll Use Constantly</a:t>
            </a:r>
            <a:endParaRPr/>
          </a:p>
        </p:txBody>
      </p:sp>
      <p:sp>
        <p:nvSpPr>
          <p:cNvPr id="331" name="Google Shape;331;p29"/>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332" name="Google Shape;332;p29"/>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333" name="Google Shape;333;p29"/>
          <p:cNvSpPr/>
          <p:nvPr/>
        </p:nvSpPr>
        <p:spPr>
          <a:xfrm>
            <a:off x="594360" y="1828800"/>
            <a:ext cx="2514600" cy="25146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29"/>
          <p:cNvSpPr txBox="1"/>
          <p:nvPr/>
        </p:nvSpPr>
        <p:spPr>
          <a:xfrm>
            <a:off x="914400" y="2240280"/>
            <a:ext cx="1874519"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200">
                <a:solidFill>
                  <a:srgbClr val="261F1D"/>
                </a:solidFill>
                <a:latin typeface="Courier New"/>
                <a:ea typeface="Courier New"/>
                <a:cs typeface="Courier New"/>
                <a:sym typeface="Courier New"/>
              </a:rPr>
              <a:t>&gt;_</a:t>
            </a:r>
            <a:endParaRPr/>
          </a:p>
        </p:txBody>
      </p:sp>
      <p:sp>
        <p:nvSpPr>
          <p:cNvPr id="335" name="Google Shape;335;p29"/>
          <p:cNvSpPr txBox="1"/>
          <p:nvPr/>
        </p:nvSpPr>
        <p:spPr>
          <a:xfrm>
            <a:off x="822960" y="3246120"/>
            <a:ext cx="2057400" cy="4572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261F1D"/>
                </a:solidFill>
                <a:latin typeface="Arial"/>
                <a:ea typeface="Arial"/>
                <a:cs typeface="Arial"/>
                <a:sym typeface="Arial"/>
              </a:rPr>
              <a:t>Terminal</a:t>
            </a:r>
            <a:endParaRPr/>
          </a:p>
        </p:txBody>
      </p:sp>
      <p:sp>
        <p:nvSpPr>
          <p:cNvPr id="336" name="Google Shape;336;p29"/>
          <p:cNvSpPr/>
          <p:nvPr/>
        </p:nvSpPr>
        <p:spPr>
          <a:xfrm>
            <a:off x="3474720" y="1828800"/>
            <a:ext cx="2514600" cy="251460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29"/>
          <p:cNvSpPr txBox="1"/>
          <p:nvPr/>
        </p:nvSpPr>
        <p:spPr>
          <a:xfrm>
            <a:off x="3794759" y="2240280"/>
            <a:ext cx="1874519"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200">
                <a:solidFill>
                  <a:srgbClr val="261F1D"/>
                </a:solidFill>
                <a:latin typeface="Courier New"/>
                <a:ea typeface="Courier New"/>
                <a:cs typeface="Courier New"/>
                <a:sym typeface="Courier New"/>
              </a:rPr>
              <a:t>x =</a:t>
            </a:r>
            <a:endParaRPr/>
          </a:p>
        </p:txBody>
      </p:sp>
      <p:sp>
        <p:nvSpPr>
          <p:cNvPr id="338" name="Google Shape;338;p29"/>
          <p:cNvSpPr txBox="1"/>
          <p:nvPr/>
        </p:nvSpPr>
        <p:spPr>
          <a:xfrm>
            <a:off x="3703320" y="3246120"/>
            <a:ext cx="2057400" cy="4572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261F1D"/>
                </a:solidFill>
                <a:latin typeface="Arial"/>
                <a:ea typeface="Arial"/>
                <a:cs typeface="Arial"/>
                <a:sym typeface="Arial"/>
              </a:rPr>
              <a:t>Variable</a:t>
            </a:r>
            <a:endParaRPr/>
          </a:p>
        </p:txBody>
      </p:sp>
      <p:sp>
        <p:nvSpPr>
          <p:cNvPr id="339" name="Google Shape;339;p29"/>
          <p:cNvSpPr/>
          <p:nvPr/>
        </p:nvSpPr>
        <p:spPr>
          <a:xfrm>
            <a:off x="6355080" y="1828800"/>
            <a:ext cx="2514600" cy="251460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9"/>
          <p:cNvSpPr txBox="1"/>
          <p:nvPr/>
        </p:nvSpPr>
        <p:spPr>
          <a:xfrm>
            <a:off x="6675120" y="2240280"/>
            <a:ext cx="1874519"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200">
                <a:solidFill>
                  <a:srgbClr val="261F1D"/>
                </a:solidFill>
                <a:latin typeface="Courier New"/>
                <a:ea typeface="Courier New"/>
                <a:cs typeface="Courier New"/>
                <a:sym typeface="Courier New"/>
              </a:rPr>
              <a:t>Aa</a:t>
            </a:r>
            <a:endParaRPr/>
          </a:p>
        </p:txBody>
      </p:sp>
      <p:sp>
        <p:nvSpPr>
          <p:cNvPr id="341" name="Google Shape;341;p29"/>
          <p:cNvSpPr txBox="1"/>
          <p:nvPr/>
        </p:nvSpPr>
        <p:spPr>
          <a:xfrm>
            <a:off x="6583680" y="3246120"/>
            <a:ext cx="2057400" cy="4572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261F1D"/>
                </a:solidFill>
                <a:latin typeface="Arial"/>
                <a:ea typeface="Arial"/>
                <a:cs typeface="Arial"/>
                <a:sym typeface="Arial"/>
              </a:rPr>
              <a:t>Data Type</a:t>
            </a:r>
            <a:endParaRPr/>
          </a:p>
        </p:txBody>
      </p:sp>
      <p:sp>
        <p:nvSpPr>
          <p:cNvPr id="342" name="Google Shape;342;p29"/>
          <p:cNvSpPr/>
          <p:nvPr/>
        </p:nvSpPr>
        <p:spPr>
          <a:xfrm>
            <a:off x="9235440" y="1828800"/>
            <a:ext cx="2514600" cy="2514600"/>
          </a:xfrm>
          <a:prstGeom prst="roundRect">
            <a:avLst>
              <a:gd fmla="val 16667" name="adj"/>
            </a:avLst>
          </a:prstGeom>
          <a:solidFill>
            <a:srgbClr val="FFF5DF"/>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29"/>
          <p:cNvSpPr txBox="1"/>
          <p:nvPr/>
        </p:nvSpPr>
        <p:spPr>
          <a:xfrm>
            <a:off x="9555480" y="2240280"/>
            <a:ext cx="1874519"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200">
                <a:solidFill>
                  <a:srgbClr val="261F1D"/>
                </a:solidFill>
                <a:latin typeface="Courier New"/>
                <a:ea typeface="Courier New"/>
                <a:cs typeface="Courier New"/>
                <a:sym typeface="Courier New"/>
              </a:rPr>
              <a:t>[ ]</a:t>
            </a:r>
            <a:endParaRPr/>
          </a:p>
        </p:txBody>
      </p:sp>
      <p:sp>
        <p:nvSpPr>
          <p:cNvPr id="344" name="Google Shape;344;p29"/>
          <p:cNvSpPr txBox="1"/>
          <p:nvPr/>
        </p:nvSpPr>
        <p:spPr>
          <a:xfrm>
            <a:off x="9464040" y="3246120"/>
            <a:ext cx="2057400" cy="4572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600">
                <a:solidFill>
                  <a:srgbClr val="261F1D"/>
                </a:solidFill>
                <a:latin typeface="Arial"/>
                <a:ea typeface="Arial"/>
                <a:cs typeface="Arial"/>
                <a:sym typeface="Arial"/>
              </a:rPr>
              <a:t>Data Structure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349" name="Shape 349"/>
        <p:cNvGrpSpPr/>
        <p:nvPr/>
      </p:nvGrpSpPr>
      <p:grpSpPr>
        <a:xfrm>
          <a:off x="0" y="0"/>
          <a:ext cx="0" cy="0"/>
          <a:chOff x="0" y="0"/>
          <a:chExt cx="0" cy="0"/>
        </a:xfrm>
      </p:grpSpPr>
      <p:sp>
        <p:nvSpPr>
          <p:cNvPr id="350" name="Google Shape;350;p30"/>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A Variable Is a Labeled Box</a:t>
            </a:r>
            <a:endParaRPr/>
          </a:p>
        </p:txBody>
      </p:sp>
      <p:sp>
        <p:nvSpPr>
          <p:cNvPr id="351" name="Google Shape;351;p30"/>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352" name="Google Shape;352;p30"/>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353" name="Google Shape;353;p30"/>
          <p:cNvSpPr/>
          <p:nvPr/>
        </p:nvSpPr>
        <p:spPr>
          <a:xfrm>
            <a:off x="685800" y="1874519"/>
            <a:ext cx="3063240" cy="2377440"/>
          </a:xfrm>
          <a:prstGeom prst="roundRect">
            <a:avLst>
              <a:gd fmla="val 16667" name="adj"/>
            </a:avLst>
          </a:prstGeom>
          <a:solidFill>
            <a:srgbClr val="DCECF8"/>
          </a:solidFill>
          <a:ln cap="flat" cmpd="sng" w="508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30"/>
          <p:cNvSpPr txBox="1"/>
          <p:nvPr/>
        </p:nvSpPr>
        <p:spPr>
          <a:xfrm>
            <a:off x="1051560" y="2240280"/>
            <a:ext cx="233172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000">
                <a:solidFill>
                  <a:srgbClr val="2274B5"/>
                </a:solidFill>
                <a:latin typeface="Arial"/>
                <a:ea typeface="Arial"/>
                <a:cs typeface="Arial"/>
                <a:sym typeface="Arial"/>
              </a:rPr>
              <a:t>age</a:t>
            </a:r>
            <a:endParaRPr/>
          </a:p>
        </p:txBody>
      </p:sp>
      <p:sp>
        <p:nvSpPr>
          <p:cNvPr id="355" name="Google Shape;355;p30"/>
          <p:cNvSpPr txBox="1"/>
          <p:nvPr/>
        </p:nvSpPr>
        <p:spPr>
          <a:xfrm>
            <a:off x="1051560" y="3063240"/>
            <a:ext cx="2331720" cy="5486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600">
                <a:solidFill>
                  <a:srgbClr val="261F1D"/>
                </a:solidFill>
                <a:latin typeface="Arial"/>
                <a:ea typeface="Arial"/>
                <a:cs typeface="Arial"/>
                <a:sym typeface="Arial"/>
              </a:rPr>
              <a:t>26</a:t>
            </a:r>
            <a:endParaRPr/>
          </a:p>
        </p:txBody>
      </p:sp>
      <p:sp>
        <p:nvSpPr>
          <p:cNvPr id="356" name="Google Shape;356;p30"/>
          <p:cNvSpPr txBox="1"/>
          <p:nvPr/>
        </p:nvSpPr>
        <p:spPr>
          <a:xfrm>
            <a:off x="777240" y="4526280"/>
            <a:ext cx="2880360" cy="6858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300">
                <a:solidFill>
                  <a:srgbClr val="261F1D"/>
                </a:solidFill>
                <a:latin typeface="Arial"/>
                <a:ea typeface="Arial"/>
                <a:cs typeface="Arial"/>
                <a:sym typeface="Arial"/>
              </a:rPr>
              <a:t>VARIABLE</a:t>
            </a:r>
            <a:br>
              <a:rPr b="1" lang="en-US" sz="2300">
                <a:solidFill>
                  <a:srgbClr val="261F1D"/>
                </a:solidFill>
                <a:latin typeface="Arial"/>
                <a:ea typeface="Arial"/>
                <a:cs typeface="Arial"/>
                <a:sym typeface="Arial"/>
              </a:rPr>
            </a:br>
            <a:r>
              <a:rPr b="1" lang="en-US" sz="2300">
                <a:solidFill>
                  <a:srgbClr val="261F1D"/>
                </a:solidFill>
                <a:latin typeface="Arial"/>
                <a:ea typeface="Arial"/>
                <a:cs typeface="Arial"/>
                <a:sym typeface="Arial"/>
              </a:rPr>
              <a:t>name</a:t>
            </a:r>
            <a:endParaRPr/>
          </a:p>
        </p:txBody>
      </p:sp>
      <p:sp>
        <p:nvSpPr>
          <p:cNvPr id="357" name="Google Shape;357;p30"/>
          <p:cNvSpPr/>
          <p:nvPr/>
        </p:nvSpPr>
        <p:spPr>
          <a:xfrm>
            <a:off x="4526280" y="1874519"/>
            <a:ext cx="3063240" cy="2377440"/>
          </a:xfrm>
          <a:prstGeom prst="roundRect">
            <a:avLst>
              <a:gd fmla="val 16667" name="adj"/>
            </a:avLst>
          </a:prstGeom>
          <a:solidFill>
            <a:srgbClr val="F6D574"/>
          </a:solidFill>
          <a:ln cap="flat" cmpd="sng" w="508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30"/>
          <p:cNvSpPr txBox="1"/>
          <p:nvPr/>
        </p:nvSpPr>
        <p:spPr>
          <a:xfrm>
            <a:off x="4800600" y="2514600"/>
            <a:ext cx="2514600" cy="5943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261F1D"/>
                </a:solidFill>
                <a:latin typeface="Arial"/>
                <a:ea typeface="Arial"/>
                <a:cs typeface="Arial"/>
                <a:sym typeface="Arial"/>
              </a:rPr>
              <a:t>WHOLE NUMBER</a:t>
            </a:r>
            <a:endParaRPr/>
          </a:p>
        </p:txBody>
      </p:sp>
      <p:sp>
        <p:nvSpPr>
          <p:cNvPr id="359" name="Google Shape;359;p30"/>
          <p:cNvSpPr txBox="1"/>
          <p:nvPr/>
        </p:nvSpPr>
        <p:spPr>
          <a:xfrm>
            <a:off x="4617720" y="4526280"/>
            <a:ext cx="2880360" cy="6858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300">
                <a:solidFill>
                  <a:srgbClr val="261F1D"/>
                </a:solidFill>
                <a:latin typeface="Arial"/>
                <a:ea typeface="Arial"/>
                <a:cs typeface="Arial"/>
                <a:sym typeface="Arial"/>
              </a:rPr>
              <a:t>DATA TYPE</a:t>
            </a:r>
            <a:br>
              <a:rPr b="1" lang="en-US" sz="2300">
                <a:solidFill>
                  <a:srgbClr val="261F1D"/>
                </a:solidFill>
                <a:latin typeface="Arial"/>
                <a:ea typeface="Arial"/>
                <a:cs typeface="Arial"/>
                <a:sym typeface="Arial"/>
              </a:rPr>
            </a:br>
            <a:r>
              <a:rPr b="1" lang="en-US" sz="2300">
                <a:solidFill>
                  <a:srgbClr val="261F1D"/>
                </a:solidFill>
                <a:latin typeface="Arial"/>
                <a:ea typeface="Arial"/>
                <a:cs typeface="Arial"/>
                <a:sym typeface="Arial"/>
              </a:rPr>
              <a:t>what fits</a:t>
            </a:r>
            <a:endParaRPr/>
          </a:p>
        </p:txBody>
      </p:sp>
      <p:sp>
        <p:nvSpPr>
          <p:cNvPr id="360" name="Google Shape;360;p30"/>
          <p:cNvSpPr/>
          <p:nvPr/>
        </p:nvSpPr>
        <p:spPr>
          <a:xfrm>
            <a:off x="8412480" y="1965960"/>
            <a:ext cx="960120" cy="640080"/>
          </a:xfrm>
          <a:prstGeom prst="roundRect">
            <a:avLst>
              <a:gd fmla="val 16667" name="adj"/>
            </a:avLst>
          </a:prstGeom>
          <a:solidFill>
            <a:srgbClr val="DCEADB"/>
          </a:solidFill>
          <a:ln cap="flat" cmpd="sng" w="254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30"/>
          <p:cNvSpPr/>
          <p:nvPr/>
        </p:nvSpPr>
        <p:spPr>
          <a:xfrm>
            <a:off x="9646920" y="1965960"/>
            <a:ext cx="960120" cy="640080"/>
          </a:xfrm>
          <a:prstGeom prst="roundRect">
            <a:avLst>
              <a:gd fmla="val 16667" name="adj"/>
            </a:avLst>
          </a:prstGeom>
          <a:solidFill>
            <a:srgbClr val="DCEADB"/>
          </a:solidFill>
          <a:ln cap="flat" cmpd="sng" w="254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30"/>
          <p:cNvSpPr/>
          <p:nvPr/>
        </p:nvSpPr>
        <p:spPr>
          <a:xfrm>
            <a:off x="8412480" y="2834640"/>
            <a:ext cx="960120" cy="640080"/>
          </a:xfrm>
          <a:prstGeom prst="roundRect">
            <a:avLst>
              <a:gd fmla="val 16667" name="adj"/>
            </a:avLst>
          </a:prstGeom>
          <a:solidFill>
            <a:srgbClr val="DCEADB"/>
          </a:solidFill>
          <a:ln cap="flat" cmpd="sng" w="254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30"/>
          <p:cNvSpPr/>
          <p:nvPr/>
        </p:nvSpPr>
        <p:spPr>
          <a:xfrm>
            <a:off x="9646920" y="2834640"/>
            <a:ext cx="960120" cy="640080"/>
          </a:xfrm>
          <a:prstGeom prst="roundRect">
            <a:avLst>
              <a:gd fmla="val 16667" name="adj"/>
            </a:avLst>
          </a:prstGeom>
          <a:solidFill>
            <a:srgbClr val="DCEADB"/>
          </a:solidFill>
          <a:ln cap="flat" cmpd="sng" w="254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30"/>
          <p:cNvSpPr txBox="1"/>
          <p:nvPr/>
        </p:nvSpPr>
        <p:spPr>
          <a:xfrm>
            <a:off x="7909560" y="4526280"/>
            <a:ext cx="3337560"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300">
                <a:solidFill>
                  <a:srgbClr val="261F1D"/>
                </a:solidFill>
                <a:latin typeface="Arial"/>
                <a:ea typeface="Arial"/>
                <a:cs typeface="Arial"/>
                <a:sym typeface="Arial"/>
              </a:rPr>
              <a:t>DATA STRUCTURE</a:t>
            </a:r>
            <a:br>
              <a:rPr b="1" lang="en-US" sz="2300">
                <a:solidFill>
                  <a:srgbClr val="261F1D"/>
                </a:solidFill>
                <a:latin typeface="Arial"/>
                <a:ea typeface="Arial"/>
                <a:cs typeface="Arial"/>
                <a:sym typeface="Arial"/>
              </a:rPr>
            </a:br>
            <a:r>
              <a:rPr b="1" lang="en-US" sz="2300">
                <a:solidFill>
                  <a:srgbClr val="261F1D"/>
                </a:solidFill>
                <a:latin typeface="Arial"/>
                <a:ea typeface="Arial"/>
                <a:cs typeface="Arial"/>
                <a:sym typeface="Arial"/>
              </a:rPr>
              <a:t>how values are organized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369" name="Shape 369"/>
        <p:cNvGrpSpPr/>
        <p:nvPr/>
      </p:nvGrpSpPr>
      <p:grpSpPr>
        <a:xfrm>
          <a:off x="0" y="0"/>
          <a:ext cx="0" cy="0"/>
          <a:chOff x="0" y="0"/>
          <a:chExt cx="0" cy="0"/>
        </a:xfrm>
      </p:grpSpPr>
      <p:sp>
        <p:nvSpPr>
          <p:cNvPr id="370" name="Google Shape;370;p31"/>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Five Data Types You’ll See Constantly</a:t>
            </a:r>
            <a:endParaRPr/>
          </a:p>
        </p:txBody>
      </p:sp>
      <p:sp>
        <p:nvSpPr>
          <p:cNvPr id="371" name="Google Shape;371;p31"/>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372" name="Google Shape;372;p31"/>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373" name="Google Shape;373;p31"/>
          <p:cNvSpPr/>
          <p:nvPr/>
        </p:nvSpPr>
        <p:spPr>
          <a:xfrm>
            <a:off x="566928" y="1828800"/>
            <a:ext cx="2084831" cy="27432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31"/>
          <p:cNvSpPr txBox="1"/>
          <p:nvPr/>
        </p:nvSpPr>
        <p:spPr>
          <a:xfrm>
            <a:off x="704088" y="2267712"/>
            <a:ext cx="1810512" cy="5943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Text</a:t>
            </a:r>
            <a:endParaRPr/>
          </a:p>
        </p:txBody>
      </p:sp>
      <p:sp>
        <p:nvSpPr>
          <p:cNvPr id="375" name="Google Shape;375;p31"/>
          <p:cNvSpPr txBox="1"/>
          <p:nvPr/>
        </p:nvSpPr>
        <p:spPr>
          <a:xfrm>
            <a:off x="731520" y="3182112"/>
            <a:ext cx="1755648"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200">
                <a:solidFill>
                  <a:srgbClr val="261F1D"/>
                </a:solidFill>
                <a:latin typeface="Arial"/>
                <a:ea typeface="Arial"/>
                <a:cs typeface="Arial"/>
                <a:sym typeface="Arial"/>
              </a:rPr>
              <a:t>name / address</a:t>
            </a:r>
            <a:endParaRPr/>
          </a:p>
        </p:txBody>
      </p:sp>
      <p:sp>
        <p:nvSpPr>
          <p:cNvPr id="376" name="Google Shape;376;p31"/>
          <p:cNvSpPr/>
          <p:nvPr/>
        </p:nvSpPr>
        <p:spPr>
          <a:xfrm>
            <a:off x="2880360" y="1828800"/>
            <a:ext cx="2084831" cy="274320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p31"/>
          <p:cNvSpPr txBox="1"/>
          <p:nvPr/>
        </p:nvSpPr>
        <p:spPr>
          <a:xfrm>
            <a:off x="3017520" y="2267712"/>
            <a:ext cx="1810512" cy="5943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Whole number</a:t>
            </a:r>
            <a:endParaRPr/>
          </a:p>
        </p:txBody>
      </p:sp>
      <p:sp>
        <p:nvSpPr>
          <p:cNvPr id="378" name="Google Shape;378;p31"/>
          <p:cNvSpPr txBox="1"/>
          <p:nvPr/>
        </p:nvSpPr>
        <p:spPr>
          <a:xfrm>
            <a:off x="3044952" y="3182112"/>
            <a:ext cx="1755648"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200">
                <a:solidFill>
                  <a:srgbClr val="261F1D"/>
                </a:solidFill>
                <a:latin typeface="Arial"/>
                <a:ea typeface="Arial"/>
                <a:cs typeface="Arial"/>
                <a:sym typeface="Arial"/>
              </a:rPr>
              <a:t>count / age</a:t>
            </a:r>
            <a:endParaRPr/>
          </a:p>
        </p:txBody>
      </p:sp>
      <p:sp>
        <p:nvSpPr>
          <p:cNvPr id="379" name="Google Shape;379;p31"/>
          <p:cNvSpPr/>
          <p:nvPr/>
        </p:nvSpPr>
        <p:spPr>
          <a:xfrm>
            <a:off x="5193792" y="1828800"/>
            <a:ext cx="2084831" cy="274320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31"/>
          <p:cNvSpPr txBox="1"/>
          <p:nvPr/>
        </p:nvSpPr>
        <p:spPr>
          <a:xfrm>
            <a:off x="5330952" y="2267712"/>
            <a:ext cx="1810512" cy="5943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Decimal</a:t>
            </a:r>
            <a:endParaRPr/>
          </a:p>
        </p:txBody>
      </p:sp>
      <p:sp>
        <p:nvSpPr>
          <p:cNvPr id="381" name="Google Shape;381;p31"/>
          <p:cNvSpPr txBox="1"/>
          <p:nvPr/>
        </p:nvSpPr>
        <p:spPr>
          <a:xfrm>
            <a:off x="5358383" y="3182112"/>
            <a:ext cx="1755648"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200">
                <a:solidFill>
                  <a:srgbClr val="261F1D"/>
                </a:solidFill>
                <a:latin typeface="Arial"/>
                <a:ea typeface="Arial"/>
                <a:cs typeface="Arial"/>
                <a:sym typeface="Arial"/>
              </a:rPr>
              <a:t>price / temperature</a:t>
            </a:r>
            <a:endParaRPr/>
          </a:p>
        </p:txBody>
      </p:sp>
      <p:sp>
        <p:nvSpPr>
          <p:cNvPr id="382" name="Google Shape;382;p31"/>
          <p:cNvSpPr/>
          <p:nvPr/>
        </p:nvSpPr>
        <p:spPr>
          <a:xfrm>
            <a:off x="7507223" y="1828800"/>
            <a:ext cx="2084831" cy="2743200"/>
          </a:xfrm>
          <a:prstGeom prst="roundRect">
            <a:avLst>
              <a:gd fmla="val 16667" name="adj"/>
            </a:avLst>
          </a:prstGeom>
          <a:solidFill>
            <a:srgbClr val="FFF5DF"/>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31"/>
          <p:cNvSpPr txBox="1"/>
          <p:nvPr/>
        </p:nvSpPr>
        <p:spPr>
          <a:xfrm>
            <a:off x="7644383" y="2267712"/>
            <a:ext cx="1810512" cy="5943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True / false</a:t>
            </a:r>
            <a:endParaRPr/>
          </a:p>
        </p:txBody>
      </p:sp>
      <p:sp>
        <p:nvSpPr>
          <p:cNvPr id="384" name="Google Shape;384;p31"/>
          <p:cNvSpPr txBox="1"/>
          <p:nvPr/>
        </p:nvSpPr>
        <p:spPr>
          <a:xfrm>
            <a:off x="7671815" y="3182112"/>
            <a:ext cx="1755648"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200">
                <a:solidFill>
                  <a:srgbClr val="261F1D"/>
                </a:solidFill>
                <a:latin typeface="Arial"/>
                <a:ea typeface="Arial"/>
                <a:cs typeface="Arial"/>
                <a:sym typeface="Arial"/>
              </a:rPr>
              <a:t>in stock?</a:t>
            </a:r>
            <a:endParaRPr/>
          </a:p>
        </p:txBody>
      </p:sp>
      <p:sp>
        <p:nvSpPr>
          <p:cNvPr id="385" name="Google Shape;385;p31"/>
          <p:cNvSpPr/>
          <p:nvPr/>
        </p:nvSpPr>
        <p:spPr>
          <a:xfrm>
            <a:off x="9820655" y="1828800"/>
            <a:ext cx="2084831" cy="27432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31"/>
          <p:cNvSpPr txBox="1"/>
          <p:nvPr/>
        </p:nvSpPr>
        <p:spPr>
          <a:xfrm>
            <a:off x="9957815" y="2267712"/>
            <a:ext cx="1810512" cy="5943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Date</a:t>
            </a:r>
            <a:endParaRPr/>
          </a:p>
        </p:txBody>
      </p:sp>
      <p:sp>
        <p:nvSpPr>
          <p:cNvPr id="387" name="Google Shape;387;p31"/>
          <p:cNvSpPr txBox="1"/>
          <p:nvPr/>
        </p:nvSpPr>
        <p:spPr>
          <a:xfrm>
            <a:off x="9985247" y="3182112"/>
            <a:ext cx="1755648"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200">
                <a:solidFill>
                  <a:srgbClr val="261F1D"/>
                </a:solidFill>
                <a:latin typeface="Arial"/>
                <a:ea typeface="Arial"/>
                <a:cs typeface="Arial"/>
                <a:sym typeface="Arial"/>
              </a:rPr>
              <a:t>order / birthdate</a:t>
            </a:r>
            <a:endParaRPr/>
          </a:p>
        </p:txBody>
      </p:sp>
      <p:sp>
        <p:nvSpPr>
          <p:cNvPr id="388" name="Google Shape;388;p31"/>
          <p:cNvSpPr/>
          <p:nvPr/>
        </p:nvSpPr>
        <p:spPr>
          <a:xfrm>
            <a:off x="1234450" y="4983474"/>
            <a:ext cx="9692700" cy="835200"/>
          </a:xfrm>
          <a:prstGeom prst="roundRect">
            <a:avLst>
              <a:gd fmla="val 16667" name="adj"/>
            </a:avLst>
          </a:prstGeom>
          <a:solidFill>
            <a:srgbClr val="F8DEDB"/>
          </a:solidFill>
          <a:ln cap="flat" cmpd="sng" w="25400">
            <a:solidFill>
              <a:srgbClr val="B9322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31"/>
          <p:cNvSpPr txBox="1"/>
          <p:nvPr/>
        </p:nvSpPr>
        <p:spPr>
          <a:xfrm>
            <a:off x="1508772" y="5042917"/>
            <a:ext cx="9144000" cy="7758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Trap: ZIP codes and phone numbers look numeric, but they’re text.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3F32"/>
        </a:solidFill>
      </p:bgPr>
    </p:bg>
    <p:spTree>
      <p:nvGrpSpPr>
        <p:cNvPr id="394" name="Shape 394"/>
        <p:cNvGrpSpPr/>
        <p:nvPr/>
      </p:nvGrpSpPr>
      <p:grpSpPr>
        <a:xfrm>
          <a:off x="0" y="0"/>
          <a:ext cx="0" cy="0"/>
          <a:chOff x="0" y="0"/>
          <a:chExt cx="0" cy="0"/>
        </a:xfrm>
      </p:grpSpPr>
      <p:sp>
        <p:nvSpPr>
          <p:cNvPr id="395" name="Google Shape;395;p32"/>
          <p:cNvSpPr txBox="1"/>
          <p:nvPr/>
        </p:nvSpPr>
        <p:spPr>
          <a:xfrm>
            <a:off x="658368" y="685800"/>
            <a:ext cx="3657600" cy="228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400">
                <a:solidFill>
                  <a:srgbClr val="F6D574"/>
                </a:solidFill>
                <a:latin typeface="Arial"/>
                <a:ea typeface="Arial"/>
                <a:cs typeface="Arial"/>
                <a:sym typeface="Arial"/>
              </a:rPr>
              <a:t>VOCABULARY DOWN</a:t>
            </a:r>
            <a:endParaRPr/>
          </a:p>
        </p:txBody>
      </p:sp>
      <p:sp>
        <p:nvSpPr>
          <p:cNvPr id="396" name="Google Shape;396;p32"/>
          <p:cNvSpPr txBox="1"/>
          <p:nvPr/>
        </p:nvSpPr>
        <p:spPr>
          <a:xfrm>
            <a:off x="658368" y="1389888"/>
            <a:ext cx="8412480" cy="10515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4000">
                <a:solidFill>
                  <a:srgbClr val="FFFCF7"/>
                </a:solidFill>
                <a:latin typeface="Arial"/>
                <a:ea typeface="Arial"/>
                <a:cs typeface="Arial"/>
                <a:sym typeface="Arial"/>
              </a:rPr>
              <a:t>Put It Into Practice</a:t>
            </a:r>
            <a:endParaRPr/>
          </a:p>
        </p:txBody>
      </p:sp>
      <p:sp>
        <p:nvSpPr>
          <p:cNvPr id="397" name="Google Shape;397;p32"/>
          <p:cNvSpPr txBox="1"/>
          <p:nvPr/>
        </p:nvSpPr>
        <p:spPr>
          <a:xfrm>
            <a:off x="658368" y="2743200"/>
            <a:ext cx="8046720" cy="128016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FFFCF7"/>
                </a:solidFill>
                <a:latin typeface="Arial"/>
                <a:ea typeface="Arial"/>
                <a:cs typeface="Arial"/>
                <a:sym typeface="Arial"/>
              </a:rPr>
              <a:t>Knowing a definition and recognizing it in the wild are two different skills.</a:t>
            </a:r>
            <a:endParaRPr/>
          </a:p>
        </p:txBody>
      </p:sp>
      <p:sp>
        <p:nvSpPr>
          <p:cNvPr id="398" name="Google Shape;398;p32"/>
          <p:cNvSpPr/>
          <p:nvPr/>
        </p:nvSpPr>
        <p:spPr>
          <a:xfrm>
            <a:off x="9509760" y="1554480"/>
            <a:ext cx="1508760" cy="1508760"/>
          </a:xfrm>
          <a:prstGeom prst="ellipse">
            <a:avLst/>
          </a:prstGeom>
          <a:solidFill>
            <a:srgbClr val="FFF5D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32"/>
          <p:cNvSpPr txBox="1"/>
          <p:nvPr/>
        </p:nvSpPr>
        <p:spPr>
          <a:xfrm>
            <a:off x="9784080" y="1965960"/>
            <a:ext cx="91440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153F32"/>
                </a:solidFill>
                <a:latin typeface="Courier New"/>
                <a:ea typeface="Courier New"/>
                <a:cs typeface="Courier New"/>
                <a:sym typeface="Courier New"/>
              </a:rPr>
              <a:t>&gt;_</a:t>
            </a:r>
            <a:endParaRPr/>
          </a:p>
        </p:txBody>
      </p:sp>
      <p:sp>
        <p:nvSpPr>
          <p:cNvPr id="400" name="Google Shape;400;p32"/>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FFFCF7"/>
                </a:solidFill>
                <a:latin typeface="Arial"/>
                <a:ea typeface="Arial"/>
                <a:cs typeface="Arial"/>
                <a:sym typeface="Arial"/>
              </a:rPr>
              <a:t>MODULE 0  •  FOUNDATIONS</a:t>
            </a:r>
            <a:endParaRPr/>
          </a:p>
        </p:txBody>
      </p:sp>
      <p:pic>
        <p:nvPicPr>
          <p:cNvPr descr="image.png" id="401" name="Google Shape;401;p32"/>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06" name="Shape 406"/>
        <p:cNvGrpSpPr/>
        <p:nvPr/>
      </p:nvGrpSpPr>
      <p:grpSpPr>
        <a:xfrm>
          <a:off x="0" y="0"/>
          <a:ext cx="0" cy="0"/>
          <a:chOff x="0" y="0"/>
          <a:chExt cx="0" cy="0"/>
        </a:xfrm>
      </p:grpSpPr>
      <p:sp>
        <p:nvSpPr>
          <p:cNvPr id="407" name="Google Shape;407;p33"/>
          <p:cNvSpPr/>
          <p:nvPr/>
        </p:nvSpPr>
        <p:spPr>
          <a:xfrm>
            <a:off x="566925" y="310901"/>
            <a:ext cx="2331600" cy="499800"/>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33"/>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CHECK FOR UNDERSTANDING</a:t>
            </a:r>
            <a:endParaRPr/>
          </a:p>
        </p:txBody>
      </p:sp>
      <p:sp>
        <p:nvSpPr>
          <p:cNvPr id="409" name="Google Shape;409;p33"/>
          <p:cNvSpPr txBox="1"/>
          <p:nvPr/>
        </p:nvSpPr>
        <p:spPr>
          <a:xfrm>
            <a:off x="566928" y="923546"/>
            <a:ext cx="10698600" cy="5142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100">
                <a:solidFill>
                  <a:srgbClr val="261F1D"/>
                </a:solidFill>
                <a:latin typeface="Arial"/>
                <a:ea typeface="Arial"/>
                <a:cs typeface="Arial"/>
                <a:sym typeface="Arial"/>
              </a:rPr>
              <a:t>Shopping List: Type or Structure?</a:t>
            </a:r>
            <a:endParaRPr/>
          </a:p>
        </p:txBody>
      </p:sp>
      <p:sp>
        <p:nvSpPr>
          <p:cNvPr id="410" name="Google Shape;410;p33"/>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411" name="Google Shape;411;p33"/>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412" name="Google Shape;412;p33"/>
          <p:cNvSpPr/>
          <p:nvPr/>
        </p:nvSpPr>
        <p:spPr>
          <a:xfrm>
            <a:off x="960120" y="2011680"/>
            <a:ext cx="4709160" cy="210312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33"/>
          <p:cNvSpPr txBox="1"/>
          <p:nvPr/>
        </p:nvSpPr>
        <p:spPr>
          <a:xfrm>
            <a:off x="1216152" y="2231136"/>
            <a:ext cx="419709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200">
                <a:solidFill>
                  <a:srgbClr val="261F1D"/>
                </a:solidFill>
                <a:latin typeface="Arial"/>
                <a:ea typeface="Arial"/>
                <a:cs typeface="Arial"/>
                <a:sym typeface="Arial"/>
              </a:rPr>
              <a:t>A</a:t>
            </a:r>
            <a:endParaRPr/>
          </a:p>
        </p:txBody>
      </p:sp>
      <p:sp>
        <p:nvSpPr>
          <p:cNvPr id="414" name="Google Shape;414;p33"/>
          <p:cNvSpPr txBox="1"/>
          <p:nvPr/>
        </p:nvSpPr>
        <p:spPr>
          <a:xfrm>
            <a:off x="1216152" y="2816352"/>
            <a:ext cx="4197096" cy="107899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3000">
                <a:solidFill>
                  <a:srgbClr val="261F1D"/>
                </a:solidFill>
                <a:latin typeface="Arial"/>
                <a:ea typeface="Arial"/>
                <a:cs typeface="Arial"/>
                <a:sym typeface="Arial"/>
              </a:rPr>
              <a:t>Data type</a:t>
            </a:r>
            <a:endParaRPr/>
          </a:p>
        </p:txBody>
      </p:sp>
      <p:sp>
        <p:nvSpPr>
          <p:cNvPr id="415" name="Google Shape;415;p33"/>
          <p:cNvSpPr/>
          <p:nvPr/>
        </p:nvSpPr>
        <p:spPr>
          <a:xfrm>
            <a:off x="6492240" y="2011680"/>
            <a:ext cx="4709160" cy="210312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33"/>
          <p:cNvSpPr txBox="1"/>
          <p:nvPr/>
        </p:nvSpPr>
        <p:spPr>
          <a:xfrm>
            <a:off x="6748272" y="2231136"/>
            <a:ext cx="419709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200">
                <a:solidFill>
                  <a:srgbClr val="261F1D"/>
                </a:solidFill>
                <a:latin typeface="Arial"/>
                <a:ea typeface="Arial"/>
                <a:cs typeface="Arial"/>
                <a:sym typeface="Arial"/>
              </a:rPr>
              <a:t>B</a:t>
            </a:r>
            <a:endParaRPr/>
          </a:p>
        </p:txBody>
      </p:sp>
      <p:sp>
        <p:nvSpPr>
          <p:cNvPr id="417" name="Google Shape;417;p33"/>
          <p:cNvSpPr txBox="1"/>
          <p:nvPr/>
        </p:nvSpPr>
        <p:spPr>
          <a:xfrm>
            <a:off x="6748272" y="2816352"/>
            <a:ext cx="4197096" cy="107899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3000">
                <a:solidFill>
                  <a:srgbClr val="261F1D"/>
                </a:solidFill>
                <a:latin typeface="Arial"/>
                <a:ea typeface="Arial"/>
                <a:cs typeface="Arial"/>
                <a:sym typeface="Arial"/>
              </a:rPr>
              <a:t>Data structure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22" name="Shape 422"/>
        <p:cNvGrpSpPr/>
        <p:nvPr/>
      </p:nvGrpSpPr>
      <p:grpSpPr>
        <a:xfrm>
          <a:off x="0" y="0"/>
          <a:ext cx="0" cy="0"/>
          <a:chOff x="0" y="0"/>
          <a:chExt cx="0" cy="0"/>
        </a:xfrm>
      </p:grpSpPr>
      <p:sp>
        <p:nvSpPr>
          <p:cNvPr id="423" name="Google Shape;423;p34"/>
          <p:cNvSpPr/>
          <p:nvPr/>
        </p:nvSpPr>
        <p:spPr>
          <a:xfrm>
            <a:off x="566928" y="310896"/>
            <a:ext cx="2331720" cy="384048"/>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34"/>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ANSWER KEY</a:t>
            </a:r>
            <a:endParaRPr/>
          </a:p>
        </p:txBody>
      </p:sp>
      <p:sp>
        <p:nvSpPr>
          <p:cNvPr id="425" name="Google Shape;425;p34"/>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100">
                <a:solidFill>
                  <a:srgbClr val="261F1D"/>
                </a:solidFill>
                <a:latin typeface="Arial"/>
                <a:ea typeface="Arial"/>
                <a:cs typeface="Arial"/>
                <a:sym typeface="Arial"/>
              </a:rPr>
              <a:t>Shopping List: Type or Structure?</a:t>
            </a:r>
            <a:endParaRPr/>
          </a:p>
        </p:txBody>
      </p:sp>
      <p:sp>
        <p:nvSpPr>
          <p:cNvPr id="426" name="Google Shape;426;p34"/>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427" name="Google Shape;427;p34"/>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428" name="Google Shape;428;p34"/>
          <p:cNvSpPr/>
          <p:nvPr/>
        </p:nvSpPr>
        <p:spPr>
          <a:xfrm>
            <a:off x="822960" y="1828800"/>
            <a:ext cx="10561320" cy="2880360"/>
          </a:xfrm>
          <a:prstGeom prst="roundRect">
            <a:avLst>
              <a:gd fmla="val 16667" name="adj"/>
            </a:avLst>
          </a:prstGeom>
          <a:solidFill>
            <a:srgbClr val="DCEADB"/>
          </a:solidFill>
          <a:ln cap="flat" cmpd="sng" w="508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4"/>
          <p:cNvSpPr txBox="1"/>
          <p:nvPr/>
        </p:nvSpPr>
        <p:spPr>
          <a:xfrm>
            <a:off x="1188720" y="2331720"/>
            <a:ext cx="9829800"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3000">
                <a:solidFill>
                  <a:srgbClr val="153F32"/>
                </a:solidFill>
                <a:latin typeface="Arial"/>
                <a:ea typeface="Arial"/>
                <a:cs typeface="Arial"/>
                <a:sym typeface="Arial"/>
              </a:rPr>
              <a:t>Correct answer: Data structure</a:t>
            </a:r>
            <a:endParaRPr/>
          </a:p>
        </p:txBody>
      </p:sp>
      <p:sp>
        <p:nvSpPr>
          <p:cNvPr id="430" name="Google Shape;430;p34"/>
          <p:cNvSpPr txBox="1"/>
          <p:nvPr/>
        </p:nvSpPr>
        <p:spPr>
          <a:xfrm>
            <a:off x="1280160" y="3337560"/>
            <a:ext cx="9646920" cy="77724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600">
                <a:solidFill>
                  <a:srgbClr val="261F1D"/>
                </a:solidFill>
                <a:latin typeface="Arial"/>
                <a:ea typeface="Arial"/>
                <a:cs typeface="Arial"/>
                <a:sym typeface="Arial"/>
              </a:rPr>
              <a:t>A shopping list holds multiple items together, organized — not one single value.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35" name="Shape 435"/>
        <p:cNvGrpSpPr/>
        <p:nvPr/>
      </p:nvGrpSpPr>
      <p:grpSpPr>
        <a:xfrm>
          <a:off x="0" y="0"/>
          <a:ext cx="0" cy="0"/>
          <a:chOff x="0" y="0"/>
          <a:chExt cx="0" cy="0"/>
        </a:xfrm>
      </p:grpSpPr>
      <p:sp>
        <p:nvSpPr>
          <p:cNvPr id="436" name="Google Shape;436;p35"/>
          <p:cNvSpPr/>
          <p:nvPr/>
        </p:nvSpPr>
        <p:spPr>
          <a:xfrm>
            <a:off x="566928" y="310896"/>
            <a:ext cx="2331720" cy="384048"/>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35"/>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QUICK CHALLENGE</a:t>
            </a:r>
            <a:endParaRPr/>
          </a:p>
        </p:txBody>
      </p:sp>
      <p:sp>
        <p:nvSpPr>
          <p:cNvPr id="438" name="Google Shape;438;p35"/>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Round-Robin: Name That Data Type</a:t>
            </a:r>
            <a:endParaRPr/>
          </a:p>
        </p:txBody>
      </p:sp>
      <p:sp>
        <p:nvSpPr>
          <p:cNvPr id="439" name="Google Shape;439;p35"/>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440" name="Google Shape;440;p35"/>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441" name="Google Shape;441;p35"/>
          <p:cNvSpPr txBox="1"/>
          <p:nvPr/>
        </p:nvSpPr>
        <p:spPr>
          <a:xfrm>
            <a:off x="777240" y="1600200"/>
            <a:ext cx="10652760"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261F1D"/>
                </a:solidFill>
                <a:latin typeface="Arial"/>
                <a:ea typeface="Arial"/>
                <a:cs typeface="Arial"/>
                <a:sym typeface="Arial"/>
              </a:rPr>
              <a:t>Name an everyday item. The room calls out its type.</a:t>
            </a:r>
            <a:endParaRPr/>
          </a:p>
        </p:txBody>
      </p:sp>
      <p:sp>
        <p:nvSpPr>
          <p:cNvPr id="442" name="Google Shape;442;p35"/>
          <p:cNvSpPr/>
          <p:nvPr/>
        </p:nvSpPr>
        <p:spPr>
          <a:xfrm>
            <a:off x="566928" y="2606040"/>
            <a:ext cx="2084831" cy="155448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35"/>
          <p:cNvSpPr txBox="1"/>
          <p:nvPr/>
        </p:nvSpPr>
        <p:spPr>
          <a:xfrm>
            <a:off x="731520" y="2852928"/>
            <a:ext cx="411480"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A</a:t>
            </a:r>
            <a:endParaRPr/>
          </a:p>
        </p:txBody>
      </p:sp>
      <p:sp>
        <p:nvSpPr>
          <p:cNvPr id="444" name="Google Shape;444;p35"/>
          <p:cNvSpPr txBox="1"/>
          <p:nvPr/>
        </p:nvSpPr>
        <p:spPr>
          <a:xfrm>
            <a:off x="795528" y="3364992"/>
            <a:ext cx="1627632"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200">
                <a:solidFill>
                  <a:srgbClr val="261F1D"/>
                </a:solidFill>
                <a:latin typeface="Arial"/>
                <a:ea typeface="Arial"/>
                <a:cs typeface="Arial"/>
                <a:sym typeface="Arial"/>
              </a:rPr>
              <a:t>Text</a:t>
            </a:r>
            <a:endParaRPr/>
          </a:p>
        </p:txBody>
      </p:sp>
      <p:sp>
        <p:nvSpPr>
          <p:cNvPr id="445" name="Google Shape;445;p35"/>
          <p:cNvSpPr/>
          <p:nvPr/>
        </p:nvSpPr>
        <p:spPr>
          <a:xfrm>
            <a:off x="2880360" y="2606040"/>
            <a:ext cx="2084831" cy="155448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35"/>
          <p:cNvSpPr txBox="1"/>
          <p:nvPr/>
        </p:nvSpPr>
        <p:spPr>
          <a:xfrm>
            <a:off x="3044952" y="2852928"/>
            <a:ext cx="411480"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B</a:t>
            </a:r>
            <a:endParaRPr/>
          </a:p>
        </p:txBody>
      </p:sp>
      <p:sp>
        <p:nvSpPr>
          <p:cNvPr id="447" name="Google Shape;447;p35"/>
          <p:cNvSpPr txBox="1"/>
          <p:nvPr/>
        </p:nvSpPr>
        <p:spPr>
          <a:xfrm>
            <a:off x="3108960" y="3364992"/>
            <a:ext cx="1627632"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200">
                <a:solidFill>
                  <a:srgbClr val="261F1D"/>
                </a:solidFill>
                <a:latin typeface="Arial"/>
                <a:ea typeface="Arial"/>
                <a:cs typeface="Arial"/>
                <a:sym typeface="Arial"/>
              </a:rPr>
              <a:t>Whole number</a:t>
            </a:r>
            <a:endParaRPr/>
          </a:p>
        </p:txBody>
      </p:sp>
      <p:sp>
        <p:nvSpPr>
          <p:cNvPr id="448" name="Google Shape;448;p35"/>
          <p:cNvSpPr/>
          <p:nvPr/>
        </p:nvSpPr>
        <p:spPr>
          <a:xfrm>
            <a:off x="5193792" y="2606040"/>
            <a:ext cx="2084831" cy="155448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35"/>
          <p:cNvSpPr txBox="1"/>
          <p:nvPr/>
        </p:nvSpPr>
        <p:spPr>
          <a:xfrm>
            <a:off x="5358383" y="2852928"/>
            <a:ext cx="411480"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C</a:t>
            </a:r>
            <a:endParaRPr/>
          </a:p>
        </p:txBody>
      </p:sp>
      <p:sp>
        <p:nvSpPr>
          <p:cNvPr id="450" name="Google Shape;450;p35"/>
          <p:cNvSpPr txBox="1"/>
          <p:nvPr/>
        </p:nvSpPr>
        <p:spPr>
          <a:xfrm>
            <a:off x="5422392" y="3364992"/>
            <a:ext cx="1627632"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200">
                <a:solidFill>
                  <a:srgbClr val="261F1D"/>
                </a:solidFill>
                <a:latin typeface="Arial"/>
                <a:ea typeface="Arial"/>
                <a:cs typeface="Arial"/>
                <a:sym typeface="Arial"/>
              </a:rPr>
              <a:t>Decimal</a:t>
            </a:r>
            <a:endParaRPr/>
          </a:p>
        </p:txBody>
      </p:sp>
      <p:sp>
        <p:nvSpPr>
          <p:cNvPr id="451" name="Google Shape;451;p35"/>
          <p:cNvSpPr/>
          <p:nvPr/>
        </p:nvSpPr>
        <p:spPr>
          <a:xfrm>
            <a:off x="7507223" y="2606040"/>
            <a:ext cx="2084831" cy="1554480"/>
          </a:xfrm>
          <a:prstGeom prst="roundRect">
            <a:avLst>
              <a:gd fmla="val 16667" name="adj"/>
            </a:avLst>
          </a:prstGeom>
          <a:solidFill>
            <a:srgbClr val="FFF5DF"/>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35"/>
          <p:cNvSpPr txBox="1"/>
          <p:nvPr/>
        </p:nvSpPr>
        <p:spPr>
          <a:xfrm>
            <a:off x="7671815" y="2852928"/>
            <a:ext cx="411480"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D</a:t>
            </a:r>
            <a:endParaRPr/>
          </a:p>
        </p:txBody>
      </p:sp>
      <p:sp>
        <p:nvSpPr>
          <p:cNvPr id="453" name="Google Shape;453;p35"/>
          <p:cNvSpPr txBox="1"/>
          <p:nvPr/>
        </p:nvSpPr>
        <p:spPr>
          <a:xfrm>
            <a:off x="7735823" y="3364992"/>
            <a:ext cx="1627632"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200">
                <a:solidFill>
                  <a:srgbClr val="261F1D"/>
                </a:solidFill>
                <a:latin typeface="Arial"/>
                <a:ea typeface="Arial"/>
                <a:cs typeface="Arial"/>
                <a:sym typeface="Arial"/>
              </a:rPr>
              <a:t>True / false</a:t>
            </a:r>
            <a:endParaRPr/>
          </a:p>
        </p:txBody>
      </p:sp>
      <p:sp>
        <p:nvSpPr>
          <p:cNvPr id="454" name="Google Shape;454;p35"/>
          <p:cNvSpPr/>
          <p:nvPr/>
        </p:nvSpPr>
        <p:spPr>
          <a:xfrm>
            <a:off x="9820655" y="2606040"/>
            <a:ext cx="2084831" cy="155448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35"/>
          <p:cNvSpPr txBox="1"/>
          <p:nvPr/>
        </p:nvSpPr>
        <p:spPr>
          <a:xfrm>
            <a:off x="9985247" y="2852928"/>
            <a:ext cx="411480"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400">
                <a:solidFill>
                  <a:srgbClr val="261F1D"/>
                </a:solidFill>
                <a:latin typeface="Arial"/>
                <a:ea typeface="Arial"/>
                <a:cs typeface="Arial"/>
                <a:sym typeface="Arial"/>
              </a:rPr>
              <a:t>E</a:t>
            </a:r>
            <a:endParaRPr/>
          </a:p>
        </p:txBody>
      </p:sp>
      <p:sp>
        <p:nvSpPr>
          <p:cNvPr id="456" name="Google Shape;456;p35"/>
          <p:cNvSpPr txBox="1"/>
          <p:nvPr/>
        </p:nvSpPr>
        <p:spPr>
          <a:xfrm>
            <a:off x="10049255" y="3364992"/>
            <a:ext cx="1627632" cy="36576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200">
                <a:solidFill>
                  <a:srgbClr val="261F1D"/>
                </a:solidFill>
                <a:latin typeface="Arial"/>
                <a:ea typeface="Arial"/>
                <a:cs typeface="Arial"/>
                <a:sym typeface="Arial"/>
              </a:rPr>
              <a:t>Date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61" name="Shape 461"/>
        <p:cNvGrpSpPr/>
        <p:nvPr/>
      </p:nvGrpSpPr>
      <p:grpSpPr>
        <a:xfrm>
          <a:off x="0" y="0"/>
          <a:ext cx="0" cy="0"/>
          <a:chOff x="0" y="0"/>
          <a:chExt cx="0" cy="0"/>
        </a:xfrm>
      </p:grpSpPr>
      <p:sp>
        <p:nvSpPr>
          <p:cNvPr id="462" name="Google Shape;462;p36"/>
          <p:cNvSpPr/>
          <p:nvPr/>
        </p:nvSpPr>
        <p:spPr>
          <a:xfrm>
            <a:off x="566928" y="310896"/>
            <a:ext cx="2331720" cy="384048"/>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36"/>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ANSWER KEY</a:t>
            </a:r>
            <a:endParaRPr/>
          </a:p>
        </p:txBody>
      </p:sp>
      <p:sp>
        <p:nvSpPr>
          <p:cNvPr id="464" name="Google Shape;464;p36"/>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000">
                <a:solidFill>
                  <a:srgbClr val="261F1D"/>
                </a:solidFill>
                <a:latin typeface="Arial"/>
                <a:ea typeface="Arial"/>
                <a:cs typeface="Arial"/>
                <a:sym typeface="Arial"/>
              </a:rPr>
              <a:t>Round-Robin: Name That Data Type</a:t>
            </a:r>
            <a:endParaRPr/>
          </a:p>
        </p:txBody>
      </p:sp>
      <p:sp>
        <p:nvSpPr>
          <p:cNvPr id="465" name="Google Shape;465;p36"/>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466" name="Google Shape;466;p36"/>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467" name="Google Shape;467;p36"/>
          <p:cNvSpPr/>
          <p:nvPr/>
        </p:nvSpPr>
        <p:spPr>
          <a:xfrm>
            <a:off x="777240" y="1783080"/>
            <a:ext cx="10652760" cy="3337560"/>
          </a:xfrm>
          <a:prstGeom prst="roundRect">
            <a:avLst>
              <a:gd fmla="val 16667" name="adj"/>
            </a:avLst>
          </a:prstGeom>
          <a:solidFill>
            <a:srgbClr val="DCECF8"/>
          </a:solidFill>
          <a:ln cap="flat" cmpd="sng" w="508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36"/>
          <p:cNvSpPr txBox="1"/>
          <p:nvPr/>
        </p:nvSpPr>
        <p:spPr>
          <a:xfrm>
            <a:off x="1097280" y="2212848"/>
            <a:ext cx="10012680" cy="50292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800">
                <a:solidFill>
                  <a:srgbClr val="2274B5"/>
                </a:solidFill>
                <a:latin typeface="Arial"/>
                <a:ea typeface="Arial"/>
                <a:cs typeface="Arial"/>
                <a:sym typeface="Arial"/>
              </a:rPr>
              <a:t>Correct answer: Depends on the item named live</a:t>
            </a:r>
            <a:endParaRPr/>
          </a:p>
        </p:txBody>
      </p:sp>
      <p:sp>
        <p:nvSpPr>
          <p:cNvPr id="469" name="Google Shape;469;p36"/>
          <p:cNvSpPr txBox="1"/>
          <p:nvPr/>
        </p:nvSpPr>
        <p:spPr>
          <a:xfrm>
            <a:off x="1143000" y="3154680"/>
            <a:ext cx="9921240" cy="114300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0" lang="en-US" sz="2700">
                <a:solidFill>
                  <a:srgbClr val="261F1D"/>
                </a:solidFill>
                <a:latin typeface="Arial"/>
                <a:ea typeface="Arial"/>
                <a:cs typeface="Arial"/>
                <a:sym typeface="Arial"/>
              </a:rPr>
              <a:t>GPA → decimal     •     Wi-Fi password → text</a:t>
            </a:r>
            <a:br>
              <a:rPr b="0" lang="en-US" sz="2700">
                <a:solidFill>
                  <a:srgbClr val="261F1D"/>
                </a:solidFill>
                <a:latin typeface="Arial"/>
                <a:ea typeface="Arial"/>
                <a:cs typeface="Arial"/>
                <a:sym typeface="Arial"/>
              </a:rPr>
            </a:br>
            <a:r>
              <a:rPr b="0" lang="en-US" sz="2700">
                <a:solidFill>
                  <a:srgbClr val="261F1D"/>
                </a:solidFill>
                <a:latin typeface="Arial"/>
                <a:ea typeface="Arial"/>
                <a:cs typeface="Arial"/>
                <a:sym typeface="Arial"/>
              </a:rPr>
              <a:t>Grocery list → data structure, not a single data type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74" name="Shape 474"/>
        <p:cNvGrpSpPr/>
        <p:nvPr/>
      </p:nvGrpSpPr>
      <p:grpSpPr>
        <a:xfrm>
          <a:off x="0" y="0"/>
          <a:ext cx="0" cy="0"/>
          <a:chOff x="0" y="0"/>
          <a:chExt cx="0" cy="0"/>
        </a:xfrm>
      </p:grpSpPr>
      <p:sp>
        <p:nvSpPr>
          <p:cNvPr id="475" name="Google Shape;475;p37"/>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Key Terms — Recap</a:t>
            </a:r>
            <a:endParaRPr/>
          </a:p>
        </p:txBody>
      </p:sp>
      <p:sp>
        <p:nvSpPr>
          <p:cNvPr id="476" name="Google Shape;476;p37"/>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477" name="Google Shape;477;p37"/>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478" name="Google Shape;478;p37"/>
          <p:cNvSpPr/>
          <p:nvPr/>
        </p:nvSpPr>
        <p:spPr>
          <a:xfrm>
            <a:off x="685800" y="1691640"/>
            <a:ext cx="5074920" cy="141732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7"/>
          <p:cNvSpPr txBox="1"/>
          <p:nvPr/>
        </p:nvSpPr>
        <p:spPr>
          <a:xfrm>
            <a:off x="941832" y="191109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600">
                <a:solidFill>
                  <a:srgbClr val="261F1D"/>
                </a:solidFill>
                <a:latin typeface="Arial"/>
                <a:ea typeface="Arial"/>
                <a:cs typeface="Arial"/>
                <a:sym typeface="Arial"/>
              </a:rPr>
              <a:t>Terminal</a:t>
            </a:r>
            <a:endParaRPr/>
          </a:p>
        </p:txBody>
      </p:sp>
      <p:sp>
        <p:nvSpPr>
          <p:cNvPr id="480" name="Google Shape;480;p37"/>
          <p:cNvSpPr txBox="1"/>
          <p:nvPr/>
        </p:nvSpPr>
        <p:spPr>
          <a:xfrm>
            <a:off x="941832" y="2496312"/>
            <a:ext cx="4562856" cy="39319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Where you type commands</a:t>
            </a:r>
            <a:endParaRPr/>
          </a:p>
        </p:txBody>
      </p:sp>
      <p:sp>
        <p:nvSpPr>
          <p:cNvPr id="481" name="Google Shape;481;p37"/>
          <p:cNvSpPr/>
          <p:nvPr/>
        </p:nvSpPr>
        <p:spPr>
          <a:xfrm>
            <a:off x="6217920" y="1691640"/>
            <a:ext cx="5074920" cy="141732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7"/>
          <p:cNvSpPr txBox="1"/>
          <p:nvPr/>
        </p:nvSpPr>
        <p:spPr>
          <a:xfrm>
            <a:off x="6473952" y="191109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600">
                <a:solidFill>
                  <a:srgbClr val="261F1D"/>
                </a:solidFill>
                <a:latin typeface="Arial"/>
                <a:ea typeface="Arial"/>
                <a:cs typeface="Arial"/>
                <a:sym typeface="Arial"/>
              </a:rPr>
              <a:t>Variable</a:t>
            </a:r>
            <a:endParaRPr/>
          </a:p>
        </p:txBody>
      </p:sp>
      <p:sp>
        <p:nvSpPr>
          <p:cNvPr id="483" name="Google Shape;483;p37"/>
          <p:cNvSpPr txBox="1"/>
          <p:nvPr/>
        </p:nvSpPr>
        <p:spPr>
          <a:xfrm>
            <a:off x="6473952" y="2496312"/>
            <a:ext cx="4562856" cy="39319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A named value</a:t>
            </a:r>
            <a:endParaRPr/>
          </a:p>
        </p:txBody>
      </p:sp>
      <p:sp>
        <p:nvSpPr>
          <p:cNvPr id="484" name="Google Shape;484;p37"/>
          <p:cNvSpPr/>
          <p:nvPr/>
        </p:nvSpPr>
        <p:spPr>
          <a:xfrm>
            <a:off x="685800" y="3520440"/>
            <a:ext cx="5074920" cy="141732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37"/>
          <p:cNvSpPr txBox="1"/>
          <p:nvPr/>
        </p:nvSpPr>
        <p:spPr>
          <a:xfrm>
            <a:off x="941832" y="3739896"/>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600">
                <a:solidFill>
                  <a:srgbClr val="261F1D"/>
                </a:solidFill>
                <a:latin typeface="Arial"/>
                <a:ea typeface="Arial"/>
                <a:cs typeface="Arial"/>
                <a:sym typeface="Arial"/>
              </a:rPr>
              <a:t>Data Type</a:t>
            </a:r>
            <a:endParaRPr/>
          </a:p>
        </p:txBody>
      </p:sp>
      <p:sp>
        <p:nvSpPr>
          <p:cNvPr id="486" name="Google Shape;486;p37"/>
          <p:cNvSpPr txBox="1"/>
          <p:nvPr/>
        </p:nvSpPr>
        <p:spPr>
          <a:xfrm>
            <a:off x="941832" y="4325112"/>
            <a:ext cx="4562856" cy="39319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What kind of value</a:t>
            </a:r>
            <a:endParaRPr/>
          </a:p>
        </p:txBody>
      </p:sp>
      <p:sp>
        <p:nvSpPr>
          <p:cNvPr id="487" name="Google Shape;487;p37"/>
          <p:cNvSpPr/>
          <p:nvPr/>
        </p:nvSpPr>
        <p:spPr>
          <a:xfrm>
            <a:off x="6217920" y="3520440"/>
            <a:ext cx="5074920" cy="1417320"/>
          </a:xfrm>
          <a:prstGeom prst="roundRect">
            <a:avLst>
              <a:gd fmla="val 16667" name="adj"/>
            </a:avLst>
          </a:prstGeom>
          <a:solidFill>
            <a:srgbClr val="FFF5DF"/>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37"/>
          <p:cNvSpPr txBox="1"/>
          <p:nvPr/>
        </p:nvSpPr>
        <p:spPr>
          <a:xfrm>
            <a:off x="6473952" y="3739896"/>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600">
                <a:solidFill>
                  <a:srgbClr val="261F1D"/>
                </a:solidFill>
                <a:latin typeface="Arial"/>
                <a:ea typeface="Arial"/>
                <a:cs typeface="Arial"/>
                <a:sym typeface="Arial"/>
              </a:rPr>
              <a:t>Data Structure</a:t>
            </a:r>
            <a:endParaRPr/>
          </a:p>
        </p:txBody>
      </p:sp>
      <p:sp>
        <p:nvSpPr>
          <p:cNvPr id="489" name="Google Shape;489;p37"/>
          <p:cNvSpPr txBox="1"/>
          <p:nvPr/>
        </p:nvSpPr>
        <p:spPr>
          <a:xfrm>
            <a:off x="6473952" y="4325112"/>
            <a:ext cx="4562856" cy="393191"/>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How values are organized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494" name="Shape 494"/>
        <p:cNvGrpSpPr/>
        <p:nvPr/>
      </p:nvGrpSpPr>
      <p:grpSpPr>
        <a:xfrm>
          <a:off x="0" y="0"/>
          <a:ext cx="0" cy="0"/>
          <a:chOff x="0" y="0"/>
          <a:chExt cx="0" cy="0"/>
        </a:xfrm>
      </p:grpSpPr>
      <p:sp>
        <p:nvSpPr>
          <p:cNvPr id="495" name="Google Shape;495;p38"/>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What You Have Now</a:t>
            </a:r>
            <a:endParaRPr/>
          </a:p>
        </p:txBody>
      </p:sp>
      <p:sp>
        <p:nvSpPr>
          <p:cNvPr id="496" name="Google Shape;496;p38"/>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497" name="Google Shape;497;p38"/>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498" name="Google Shape;498;p38"/>
          <p:cNvSpPr/>
          <p:nvPr/>
        </p:nvSpPr>
        <p:spPr>
          <a:xfrm>
            <a:off x="731520" y="1828800"/>
            <a:ext cx="3383280" cy="246888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p38"/>
          <p:cNvSpPr txBox="1"/>
          <p:nvPr/>
        </p:nvSpPr>
        <p:spPr>
          <a:xfrm>
            <a:off x="987552" y="2048256"/>
            <a:ext cx="287121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a:t>
            </a:r>
            <a:endParaRPr/>
          </a:p>
        </p:txBody>
      </p:sp>
      <p:sp>
        <p:nvSpPr>
          <p:cNvPr id="500" name="Google Shape;500;p38"/>
          <p:cNvSpPr txBox="1"/>
          <p:nvPr/>
        </p:nvSpPr>
        <p:spPr>
          <a:xfrm>
            <a:off x="987552" y="2633472"/>
            <a:ext cx="2871216" cy="14447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600">
                <a:solidFill>
                  <a:srgbClr val="261F1D"/>
                </a:solidFill>
                <a:latin typeface="Arial"/>
                <a:ea typeface="Arial"/>
                <a:cs typeface="Arial"/>
                <a:sym typeface="Arial"/>
              </a:rPr>
              <a:t>A working dev environment</a:t>
            </a:r>
            <a:endParaRPr/>
          </a:p>
        </p:txBody>
      </p:sp>
      <p:sp>
        <p:nvSpPr>
          <p:cNvPr id="501" name="Google Shape;501;p38"/>
          <p:cNvSpPr/>
          <p:nvPr/>
        </p:nvSpPr>
        <p:spPr>
          <a:xfrm>
            <a:off x="4407408" y="1828800"/>
            <a:ext cx="3383280" cy="246888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p38"/>
          <p:cNvSpPr txBox="1"/>
          <p:nvPr/>
        </p:nvSpPr>
        <p:spPr>
          <a:xfrm>
            <a:off x="4663440" y="2048256"/>
            <a:ext cx="287121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a:t>
            </a:r>
            <a:endParaRPr/>
          </a:p>
        </p:txBody>
      </p:sp>
      <p:sp>
        <p:nvSpPr>
          <p:cNvPr id="503" name="Google Shape;503;p38"/>
          <p:cNvSpPr txBox="1"/>
          <p:nvPr/>
        </p:nvSpPr>
        <p:spPr>
          <a:xfrm>
            <a:off x="4663440" y="2633472"/>
            <a:ext cx="2871216" cy="14447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Real vocabulary for variable and data type</a:t>
            </a:r>
            <a:endParaRPr/>
          </a:p>
        </p:txBody>
      </p:sp>
      <p:sp>
        <p:nvSpPr>
          <p:cNvPr id="504" name="Google Shape;504;p38"/>
          <p:cNvSpPr/>
          <p:nvPr/>
        </p:nvSpPr>
        <p:spPr>
          <a:xfrm>
            <a:off x="8083296" y="1828800"/>
            <a:ext cx="3383280" cy="2468880"/>
          </a:xfrm>
          <a:prstGeom prst="roundRect">
            <a:avLst>
              <a:gd fmla="val 16667" name="adj"/>
            </a:avLst>
          </a:prstGeom>
          <a:solidFill>
            <a:srgbClr val="F6D574"/>
          </a:solidFill>
          <a:ln cap="flat" cmpd="sng" w="3810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38"/>
          <p:cNvSpPr txBox="1"/>
          <p:nvPr/>
        </p:nvSpPr>
        <p:spPr>
          <a:xfrm>
            <a:off x="8339327" y="2048256"/>
            <a:ext cx="287121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a:t>
            </a:r>
            <a:endParaRPr/>
          </a:p>
        </p:txBody>
      </p:sp>
      <p:sp>
        <p:nvSpPr>
          <p:cNvPr id="506" name="Google Shape;506;p38"/>
          <p:cNvSpPr txBox="1"/>
          <p:nvPr/>
        </p:nvSpPr>
        <p:spPr>
          <a:xfrm>
            <a:off x="8339327" y="2633472"/>
            <a:ext cx="2871216" cy="144475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500">
                <a:solidFill>
                  <a:srgbClr val="261F1D"/>
                </a:solidFill>
                <a:latin typeface="Arial"/>
                <a:ea typeface="Arial"/>
                <a:cs typeface="Arial"/>
                <a:sym typeface="Arial"/>
              </a:rPr>
              <a:t>The habit of looking before you type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511" name="Shape 511"/>
        <p:cNvGrpSpPr/>
        <p:nvPr/>
      </p:nvGrpSpPr>
      <p:grpSpPr>
        <a:xfrm>
          <a:off x="0" y="0"/>
          <a:ext cx="0" cy="0"/>
          <a:chOff x="0" y="0"/>
          <a:chExt cx="0" cy="0"/>
        </a:xfrm>
      </p:grpSpPr>
      <p:sp>
        <p:nvSpPr>
          <p:cNvPr id="512" name="Google Shape;512;p39"/>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Before Next Class</a:t>
            </a:r>
            <a:endParaRPr/>
          </a:p>
        </p:txBody>
      </p:sp>
      <p:sp>
        <p:nvSpPr>
          <p:cNvPr id="513" name="Google Shape;513;p39"/>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514" name="Google Shape;514;p39"/>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515" name="Google Shape;515;p39"/>
          <p:cNvSpPr/>
          <p:nvPr/>
        </p:nvSpPr>
        <p:spPr>
          <a:xfrm>
            <a:off x="777240" y="1783080"/>
            <a:ext cx="5074920" cy="25146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39"/>
          <p:cNvSpPr txBox="1"/>
          <p:nvPr/>
        </p:nvSpPr>
        <p:spPr>
          <a:xfrm>
            <a:off x="1033271" y="2002536"/>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800">
                <a:solidFill>
                  <a:srgbClr val="261F1D"/>
                </a:solidFill>
                <a:latin typeface="Arial"/>
                <a:ea typeface="Arial"/>
                <a:cs typeface="Arial"/>
                <a:sym typeface="Arial"/>
              </a:rPr>
              <a:t>Keep today’s setup</a:t>
            </a:r>
            <a:endParaRPr/>
          </a:p>
        </p:txBody>
      </p:sp>
      <p:sp>
        <p:nvSpPr>
          <p:cNvPr id="517" name="Google Shape;517;p39"/>
          <p:cNvSpPr txBox="1"/>
          <p:nvPr/>
        </p:nvSpPr>
        <p:spPr>
          <a:xfrm>
            <a:off x="1033271" y="2587752"/>
            <a:ext cx="4562856" cy="14904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261F1D"/>
                </a:solidFill>
                <a:latin typeface="Arial"/>
                <a:ea typeface="Arial"/>
                <a:cs typeface="Arial"/>
                <a:sym typeface="Arial"/>
              </a:rPr>
              <a:t>You’ll reuse it.</a:t>
            </a:r>
            <a:endParaRPr/>
          </a:p>
        </p:txBody>
      </p:sp>
      <p:sp>
        <p:nvSpPr>
          <p:cNvPr id="518" name="Google Shape;518;p39"/>
          <p:cNvSpPr/>
          <p:nvPr/>
        </p:nvSpPr>
        <p:spPr>
          <a:xfrm>
            <a:off x="6309360" y="1783080"/>
            <a:ext cx="5074920" cy="251460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39"/>
          <p:cNvSpPr txBox="1"/>
          <p:nvPr/>
        </p:nvSpPr>
        <p:spPr>
          <a:xfrm>
            <a:off x="6565392" y="2002536"/>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800">
                <a:solidFill>
                  <a:srgbClr val="261F1D"/>
                </a:solidFill>
                <a:latin typeface="Arial"/>
                <a:ea typeface="Arial"/>
                <a:cs typeface="Arial"/>
                <a:sym typeface="Arial"/>
              </a:rPr>
              <a:t>Tomorrow</a:t>
            </a:r>
            <a:endParaRPr/>
          </a:p>
        </p:txBody>
      </p:sp>
      <p:sp>
        <p:nvSpPr>
          <p:cNvPr id="520" name="Google Shape;520;p39"/>
          <p:cNvSpPr txBox="1"/>
          <p:nvPr/>
        </p:nvSpPr>
        <p:spPr>
          <a:xfrm>
            <a:off x="6565392" y="2587752"/>
            <a:ext cx="4562856" cy="14904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700">
                <a:solidFill>
                  <a:srgbClr val="261F1D"/>
                </a:solidFill>
                <a:latin typeface="Arial"/>
                <a:ea typeface="Arial"/>
                <a:cs typeface="Arial"/>
                <a:sym typeface="Arial"/>
              </a:rPr>
              <a:t>Git &amp; GitHub — fully guided.</a:t>
            </a:r>
            <a:endParaRPr/>
          </a:p>
        </p:txBody>
      </p:sp>
      <p:sp>
        <p:nvSpPr>
          <p:cNvPr id="521" name="Google Shape;521;p39"/>
          <p:cNvSpPr txBox="1"/>
          <p:nvPr/>
        </p:nvSpPr>
        <p:spPr>
          <a:xfrm>
            <a:off x="868680" y="4892040"/>
            <a:ext cx="10332720" cy="411480"/>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2300">
                <a:solidFill>
                  <a:srgbClr val="261F1D"/>
                </a:solidFill>
                <a:latin typeface="Arial"/>
                <a:ea typeface="Arial"/>
                <a:cs typeface="Arial"/>
                <a:sym typeface="Arial"/>
              </a:rPr>
              <a:t>Git &amp; Terminal Practice  •  Lab paired with the git lecture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CF7"/>
        </a:solidFill>
      </p:bgPr>
    </p:bg>
    <p:spTree>
      <p:nvGrpSpPr>
        <p:cNvPr id="526" name="Shape 526"/>
        <p:cNvGrpSpPr/>
        <p:nvPr/>
      </p:nvGrpSpPr>
      <p:grpSpPr>
        <a:xfrm>
          <a:off x="0" y="0"/>
          <a:ext cx="0" cy="0"/>
          <a:chOff x="0" y="0"/>
          <a:chExt cx="0" cy="0"/>
        </a:xfrm>
      </p:grpSpPr>
      <p:sp>
        <p:nvSpPr>
          <p:cNvPr id="527" name="Google Shape;527;p40"/>
          <p:cNvSpPr/>
          <p:nvPr/>
        </p:nvSpPr>
        <p:spPr>
          <a:xfrm>
            <a:off x="566928" y="310896"/>
            <a:ext cx="2331720" cy="384048"/>
          </a:xfrm>
          <a:prstGeom prst="roundRect">
            <a:avLst>
              <a:gd fmla="val 16667" name="adj"/>
            </a:avLst>
          </a:prstGeom>
          <a:solidFill>
            <a:srgbClr val="F6D574"/>
          </a:solidFill>
          <a:ln cap="flat" cmpd="sng" w="19050">
            <a:solidFill>
              <a:srgbClr val="8B6A1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8" name="Google Shape;528;p40"/>
          <p:cNvSpPr txBox="1"/>
          <p:nvPr/>
        </p:nvSpPr>
        <p:spPr>
          <a:xfrm>
            <a:off x="658368" y="402336"/>
            <a:ext cx="2148840" cy="146304"/>
          </a:xfrm>
          <a:prstGeom prst="rect">
            <a:avLst/>
          </a:prstGeom>
          <a:noFill/>
          <a:ln>
            <a:noFill/>
          </a:ln>
        </p:spPr>
        <p:txBody>
          <a:bodyPr anchorCtr="0" anchor="t" bIns="18275" lIns="36575" spcFirstLastPara="1" rIns="36575" wrap="square" tIns="18275">
            <a:spAutoFit/>
          </a:bodyPr>
          <a:lstStyle/>
          <a:p>
            <a:pPr indent="0" lvl="0" marL="0" marR="0" rtl="0" algn="ctr">
              <a:spcBef>
                <a:spcPts val="0"/>
              </a:spcBef>
              <a:spcAft>
                <a:spcPts val="0"/>
              </a:spcAft>
              <a:buNone/>
            </a:pPr>
            <a:r>
              <a:rPr b="1" lang="en-US" sz="1200">
                <a:solidFill>
                  <a:srgbClr val="261F1D"/>
                </a:solidFill>
                <a:latin typeface="Arial"/>
                <a:ea typeface="Arial"/>
                <a:cs typeface="Arial"/>
                <a:sym typeface="Arial"/>
              </a:rPr>
              <a:t>KEEP LEARNING</a:t>
            </a:r>
            <a:endParaRPr/>
          </a:p>
        </p:txBody>
      </p:sp>
      <p:sp>
        <p:nvSpPr>
          <p:cNvPr id="529" name="Google Shape;529;p40"/>
          <p:cNvSpPr txBox="1"/>
          <p:nvPr/>
        </p:nvSpPr>
        <p:spPr>
          <a:xfrm>
            <a:off x="566928" y="749808"/>
            <a:ext cx="10698480" cy="7132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3400">
                <a:solidFill>
                  <a:srgbClr val="261F1D"/>
                </a:solidFill>
                <a:latin typeface="Arial"/>
                <a:ea typeface="Arial"/>
                <a:cs typeface="Arial"/>
                <a:sym typeface="Arial"/>
              </a:rPr>
              <a:t>Where to Go From Here</a:t>
            </a:r>
            <a:endParaRPr/>
          </a:p>
        </p:txBody>
      </p:sp>
      <p:sp>
        <p:nvSpPr>
          <p:cNvPr id="530" name="Google Shape;530;p40"/>
          <p:cNvSpPr txBox="1"/>
          <p:nvPr/>
        </p:nvSpPr>
        <p:spPr>
          <a:xfrm>
            <a:off x="566928" y="6400800"/>
            <a:ext cx="2926080" cy="16459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900">
                <a:solidFill>
                  <a:srgbClr val="261F1D"/>
                </a:solidFill>
                <a:latin typeface="Arial"/>
                <a:ea typeface="Arial"/>
                <a:cs typeface="Arial"/>
                <a:sym typeface="Arial"/>
              </a:rPr>
              <a:t>MODULE 0  •  FOUNDATIONS</a:t>
            </a:r>
            <a:endParaRPr/>
          </a:p>
        </p:txBody>
      </p:sp>
      <p:pic>
        <p:nvPicPr>
          <p:cNvPr descr="image.png" id="531" name="Google Shape;531;p40"/>
          <p:cNvPicPr preferRelativeResize="0"/>
          <p:nvPr/>
        </p:nvPicPr>
        <p:blipFill rotWithShape="1">
          <a:blip r:embed="rId3">
            <a:alphaModFix/>
          </a:blip>
          <a:srcRect b="0" l="0" r="0" t="0"/>
          <a:stretch/>
        </p:blipFill>
        <p:spPr>
          <a:xfrm>
            <a:off x="9646920" y="6291072"/>
            <a:ext cx="1965960" cy="228600"/>
          </a:xfrm>
          <a:prstGeom prst="rect">
            <a:avLst/>
          </a:prstGeom>
          <a:noFill/>
          <a:ln>
            <a:noFill/>
          </a:ln>
        </p:spPr>
      </p:pic>
      <p:sp>
        <p:nvSpPr>
          <p:cNvPr id="532" name="Google Shape;532;p40"/>
          <p:cNvSpPr/>
          <p:nvPr/>
        </p:nvSpPr>
        <p:spPr>
          <a:xfrm>
            <a:off x="777240" y="1691640"/>
            <a:ext cx="5074920" cy="2971800"/>
          </a:xfrm>
          <a:prstGeom prst="roundRect">
            <a:avLst>
              <a:gd fmla="val 16667" name="adj"/>
            </a:avLst>
          </a:prstGeom>
          <a:solidFill>
            <a:srgbClr val="DCEADB"/>
          </a:solidFill>
          <a:ln cap="flat" cmpd="sng" w="38100">
            <a:solidFill>
              <a:srgbClr val="153F3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40"/>
          <p:cNvSpPr txBox="1"/>
          <p:nvPr/>
        </p:nvSpPr>
        <p:spPr>
          <a:xfrm>
            <a:off x="1033271" y="191109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800">
                <a:solidFill>
                  <a:srgbClr val="261F1D"/>
                </a:solidFill>
                <a:latin typeface="Arial"/>
                <a:ea typeface="Arial"/>
                <a:cs typeface="Arial"/>
                <a:sym typeface="Arial"/>
              </a:rPr>
              <a:t>VS Code Docs</a:t>
            </a:r>
            <a:endParaRPr/>
          </a:p>
        </p:txBody>
      </p:sp>
      <p:sp>
        <p:nvSpPr>
          <p:cNvPr id="534" name="Google Shape;534;p40"/>
          <p:cNvSpPr txBox="1"/>
          <p:nvPr/>
        </p:nvSpPr>
        <p:spPr>
          <a:xfrm>
            <a:off x="1033271" y="2496312"/>
            <a:ext cx="4562856" cy="19476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Getting Started</a:t>
            </a:r>
            <a:br>
              <a:rPr b="0" lang="en-US" sz="2400">
                <a:solidFill>
                  <a:srgbClr val="261F1D"/>
                </a:solidFill>
                <a:latin typeface="Arial"/>
                <a:ea typeface="Arial"/>
                <a:cs typeface="Arial"/>
                <a:sym typeface="Arial"/>
              </a:rPr>
            </a:br>
            <a:r>
              <a:rPr b="0" lang="en-US" sz="2400">
                <a:solidFill>
                  <a:srgbClr val="261F1D"/>
                </a:solidFill>
                <a:latin typeface="Arial"/>
                <a:ea typeface="Arial"/>
                <a:cs typeface="Arial"/>
                <a:sym typeface="Arial"/>
              </a:rPr>
              <a:t>Official VS Code documentation</a:t>
            </a:r>
            <a:endParaRPr/>
          </a:p>
        </p:txBody>
      </p:sp>
      <p:sp>
        <p:nvSpPr>
          <p:cNvPr id="535" name="Google Shape;535;p40"/>
          <p:cNvSpPr/>
          <p:nvPr/>
        </p:nvSpPr>
        <p:spPr>
          <a:xfrm>
            <a:off x="6309360" y="1691640"/>
            <a:ext cx="5074920" cy="2971800"/>
          </a:xfrm>
          <a:prstGeom prst="roundRect">
            <a:avLst>
              <a:gd fmla="val 16667" name="adj"/>
            </a:avLst>
          </a:prstGeom>
          <a:solidFill>
            <a:srgbClr val="DCECF8"/>
          </a:solidFill>
          <a:ln cap="flat" cmpd="sng" w="38100">
            <a:solidFill>
              <a:srgbClr val="2274B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40"/>
          <p:cNvSpPr txBox="1"/>
          <p:nvPr/>
        </p:nvSpPr>
        <p:spPr>
          <a:xfrm>
            <a:off x="6565392" y="1911095"/>
            <a:ext cx="4562856" cy="43891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800">
                <a:solidFill>
                  <a:srgbClr val="261F1D"/>
                </a:solidFill>
                <a:latin typeface="Arial"/>
                <a:ea typeface="Arial"/>
                <a:cs typeface="Arial"/>
                <a:sym typeface="Arial"/>
              </a:rPr>
              <a:t>Software Carpentry</a:t>
            </a:r>
            <a:endParaRPr/>
          </a:p>
        </p:txBody>
      </p:sp>
      <p:sp>
        <p:nvSpPr>
          <p:cNvPr id="537" name="Google Shape;537;p40"/>
          <p:cNvSpPr txBox="1"/>
          <p:nvPr/>
        </p:nvSpPr>
        <p:spPr>
          <a:xfrm>
            <a:off x="6565392" y="2496312"/>
            <a:ext cx="4562856" cy="194767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lang="en-US" sz="2400">
                <a:solidFill>
                  <a:srgbClr val="261F1D"/>
                </a:solidFill>
                <a:latin typeface="Arial"/>
                <a:ea typeface="Arial"/>
                <a:cs typeface="Arial"/>
                <a:sym typeface="Arial"/>
              </a:rPr>
              <a:t>The Unix Shell</a:t>
            </a:r>
            <a:br>
              <a:rPr b="0" lang="en-US" sz="2400">
                <a:solidFill>
                  <a:srgbClr val="261F1D"/>
                </a:solidFill>
                <a:latin typeface="Arial"/>
                <a:ea typeface="Arial"/>
                <a:cs typeface="Arial"/>
                <a:sym typeface="Arial"/>
              </a:rPr>
            </a:br>
            <a:r>
              <a:rPr b="0" lang="en-US" sz="2400">
                <a:solidFill>
                  <a:srgbClr val="261F1D"/>
                </a:solidFill>
                <a:latin typeface="Arial"/>
                <a:ea typeface="Arial"/>
                <a:cs typeface="Arial"/>
                <a:sym typeface="Arial"/>
              </a:rPr>
              <a:t>Hands-on terminal practice</a:t>
            </a:r>
            <a:endParaRPr/>
          </a:p>
        </p:txBody>
      </p:sp>
      <p:sp>
        <p:nvSpPr>
          <p:cNvPr id="538" name="Google Shape;538;p40">
            <a:hlinkClick r:id="rId4"/>
          </p:cNvPr>
          <p:cNvSpPr/>
          <p:nvPr/>
        </p:nvSpPr>
        <p:spPr>
          <a:xfrm>
            <a:off x="777240" y="1691640"/>
            <a:ext cx="5074920" cy="2971800"/>
          </a:xfrm>
          <a:prstGeom prst="rect">
            <a:avLst/>
          </a:prstGeom>
          <a:no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40">
            <a:hlinkClick r:id="rId5"/>
          </p:cNvPr>
          <p:cNvSpPr/>
          <p:nvPr/>
        </p:nvSpPr>
        <p:spPr>
          <a:xfrm>
            <a:off x="6309360" y="1691640"/>
            <a:ext cx="5074800" cy="2971800"/>
          </a:xfrm>
          <a:prstGeom prst="rect">
            <a:avLst/>
          </a:prstGeom>
          <a:no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