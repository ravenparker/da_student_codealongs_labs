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11"/>
    <p:restoredTop sz="94682"/>
  </p:normalViewPr>
  <p:slideViewPr>
    <p:cSldViewPr snapToGrid="0">
      <p:cViewPr>
        <p:scale>
          <a:sx n="170" d="100"/>
          <a:sy n="170" d="100"/>
        </p:scale>
        <p:origin x="144" y="-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[SCRIPT] Callback to the environment-setup lecture explicitly: the terminal setup everyone confirmed working then is exactly what runs every command today — this isn't new infrastructure, just a new thing to type into it. Nobody in this room is expected to already know git. Say that out loud. Today is fully guided — every command gets typed together, live, before it's ever asked of them alone.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3" name="Google Shape;83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[SCRIPT] This exact sequence is what the actual project's rubric checks for — not abstractly, literally these three things.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[SCRIPT] Common early confusion: thinking git and GitHub are the same thing. They aren't — git works with zero internet connection; GitHub is one (very common) place to host what git is already tracking.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4" name="Google Shape;124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" name="Google Shape;141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[SCRIPT] "You'll know these by the end of today." Point out "commit" specifically — it's a noun (a saved snapshot) and a verb (the act of saving one), and both uses come up constantly.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2" name="Google Shape;142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" name="Google Shape;162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[SCRIPT] Everyone follows along on their own machine from here — hands-on, not a demo to watch.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3" name="Google Shape;163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[SCRIPT] Run this together, live. Afterward, run `ls -a` so they can actually see the new hidden `.git` folder — it stops being abstract once they've seen it exist.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5" name="Google Shape;175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[SCRIPT] Have them create </a:t>
            </a:r>
            <a:r>
              <a:rPr lang="en-US" dirty="0" err="1"/>
              <a:t>README.md</a:t>
            </a:r>
            <a:r>
              <a:rPr lang="en-US" dirty="0"/>
              <a:t> right now, in VS Code, with one sentence describing the (placeholder) project. This becomes real on the actual project — a README with nothing in it is a common lower-scoring pattern.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9" name="Google Shape;189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[SCRIPT] Back to typing together, now with a real file to actually stage.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5" name="Google Shape;205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6" name="Google Shape;216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[SCRIPT] Emphasize git status is completely safe to run any time, as often as they want — it's read-only. Build the habit of running it before and after every git command today.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7" name="Google Shape;217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0" name="Google Shape;230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[SCRIPT] This is where the project's #2 flagged mistake (one giant final commit) gets prevented — model a SPECIFIC, descriptive message now, while it's cheap, so it's already a habit by project time.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[SCRIPT] Run this live, right after editing </a:t>
            </a:r>
            <a:r>
              <a:rPr lang="en-US" dirty="0" err="1"/>
              <a:t>README.md</a:t>
            </a:r>
            <a:r>
              <a:rPr lang="en-US" dirty="0"/>
              <a:t> a second time — git diff only shows something for a file git already knows about, so this only works cleanly *after* the first commit, not before it. Seeing the actual +/- line diff makes "git tracks changes" concrete instead of abstract.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9" name="Google Shape;249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2" name="Google Shape;262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[SCRIPT] [~25 min mark] Everything so far has been entirely local — nothing's been shared yet. That changes now.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3" name="Google Shape;263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4" name="Google Shape;274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[SCRIPT] Walk through the actual </a:t>
            </a:r>
            <a:r>
              <a:rPr lang="en-US" dirty="0" err="1"/>
              <a:t>github.com</a:t>
            </a:r>
            <a:r>
              <a:rPr lang="en-US" dirty="0"/>
              <a:t> UI live, screen-shared. The "don't add a README" point matters — it avoids an immediate merge conflict for a brand-new repo, a confusing first-day surprise.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5" name="Google Shape;275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5" name="Google Shape;295;p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[SCRIPT] Back to the terminal — this is the moment their local work actually becomes visible on GitHub.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6" name="Google Shape;296;p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7" name="Google Shape;307;p1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[SCRIPT] The most common live hiccup here is a </a:t>
            </a:r>
            <a:r>
              <a:rPr lang="en-US" dirty="0" err="1"/>
              <a:t>typo'd</a:t>
            </a:r>
            <a:r>
              <a:rPr lang="en-US" dirty="0"/>
              <a:t> URL or an auth prompt — narrate what a real error looks like so it's not alarming when it happens to someone.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8" name="Google Shape;308;p1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1" name="Google Shape;321;p1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[SCRIPT] Run this after the push. This is the actual payoff of today's whole lesson: a real, readable history they built themselves, not an abstract promise.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2" name="Google Shape;322;p1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7" name="Google Shape;337;p1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[SCRIPT] Name all three explicitly before anyone hits them — normalizing this up front (per this Fellowship's stereotype-threat research) matters more than any individual fix.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FF0000"/>
                </a:solidFill>
              </a:rPr>
              <a:t>Tokens:  Need to generate an ssh token at times which in </a:t>
            </a:r>
            <a:r>
              <a:rPr lang="en-US" b="1" dirty="0" err="1">
                <a:solidFill>
                  <a:srgbClr val="FF0000"/>
                </a:solidFill>
              </a:rPr>
              <a:t>Github</a:t>
            </a:r>
            <a:r>
              <a:rPr lang="en-US" b="1" dirty="0">
                <a:solidFill>
                  <a:srgbClr val="FF0000"/>
                </a:solidFill>
              </a:rPr>
              <a:t> click on profile picture &gt; settings &gt; ssh and </a:t>
            </a:r>
            <a:r>
              <a:rPr lang="en-US" b="1" dirty="0" err="1">
                <a:solidFill>
                  <a:srgbClr val="FF0000"/>
                </a:solidFill>
              </a:rPr>
              <a:t>gpg</a:t>
            </a:r>
            <a:r>
              <a:rPr lang="en-US" b="1" dirty="0">
                <a:solidFill>
                  <a:srgbClr val="FF0000"/>
                </a:solidFill>
              </a:rPr>
              <a:t> keys</a:t>
            </a:r>
            <a:endParaRPr b="1" dirty="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8" name="Google Shape;338;p1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8" name="Google Shape;358;p1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[SCRIPT] Cold-call after individual think time. This is a genuinely common real moment — reinforcing "when unsure, run git status" pays off well beyond today.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9" name="Google Shape;359;p1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2" name="Google Shape;382;p1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Correct answer: git status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Why: git status is always safe to run and always tells you the real current state — staged files, </a:t>
            </a:r>
            <a:r>
              <a:rPr lang="en-US" dirty="0" err="1"/>
              <a:t>unstaged</a:t>
            </a:r>
            <a:r>
              <a:rPr lang="en-US" dirty="0"/>
              <a:t> changes, what branch you're on.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Source: This module's own objective-3 definition, not an external citation</a:t>
            </a:r>
            <a:endParaRPr dirty="0"/>
          </a:p>
        </p:txBody>
      </p:sp>
      <p:sp>
        <p:nvSpPr>
          <p:cNvPr id="383" name="Google Shape;383;p1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7" name="Google Shape;397;p2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[ACTIVITY] Padlet/</a:t>
            </a:r>
            <a:r>
              <a:rPr lang="en-US" dirty="0" err="1"/>
              <a:t>Jamboard</a:t>
            </a:r>
            <a:r>
              <a:rPr lang="en-US" dirty="0"/>
              <a:t>, or a physical whiteboard if in person; online, drop the order into chat and unmute 1-2 Fellows to explain why. Correct order: git </a:t>
            </a:r>
            <a:r>
              <a:rPr lang="en-US" dirty="0" err="1"/>
              <a:t>init</a:t>
            </a:r>
            <a:r>
              <a:rPr lang="en-US" dirty="0"/>
              <a:t>, git add, git commit, git push. The real teaching point isn't just the order — it's WHY: nothing else works until </a:t>
            </a:r>
            <a:r>
              <a:rPr lang="en-US" dirty="0" err="1"/>
              <a:t>init</a:t>
            </a:r>
            <a:r>
              <a:rPr lang="en-US" dirty="0"/>
              <a:t> starts tracking the folder, and you can't commit what was never added.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8" name="Google Shape;398;p2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5" name="Google Shape;425;p2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[SCRIPT] This is the actual applied skill, not just the concept — have a few Fellows share their real rewritten message out loud before revealing the example.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26" name="Google Shape;426;p2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8" name="Google Shape;448;p2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Correct answer: "Fix typo in README installation steps"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Why: A good message names the specific WHAT — someone reading the log later (including future-you) should know what changed without opening the diff.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Source: This module's own objective-3 definition, not an external citation</a:t>
            </a:r>
            <a:endParaRPr dirty="0"/>
          </a:p>
        </p:txBody>
      </p:sp>
      <p:sp>
        <p:nvSpPr>
          <p:cNvPr id="449" name="Google Shape;449;p2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2" name="Google Shape;462;p2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[SCRIPT] Last reinforcement pass — tie each term back to the exact command that just used it live today.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63" name="Google Shape;463;p2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0" name="Google Shape;480;p2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[SCRIPT] Today was fully guided — next class's lab is the same sequence again, on your own, with support circulating. The project later this module asks for this completely unguided. Resolve today's opening explicitly: the same terminal confirmed working in the environment-setup lecture is exactly what just ran every command today.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81" name="Google Shape;481;p2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1" name="Google Shape;501;p2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[SCRIPT] Close by naming the lab specifically as the next rep at this exact sequence, not new content.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02" name="Google Shape;502;p2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2" name="Google Shape;522;p2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[SCRIPT] Mention these exist for review, don't assign as homework — the lab is today's real practice.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23" name="Google Shape;523;p2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5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-scm.com/book/en/v2/Git-Basics-Getting-a-Git-Repository" TargetMode="External"/><Relationship Id="rId5" Type="http://schemas.openxmlformats.org/officeDocument/2006/relationships/hyperlink" Target="https://docs.github.com/en/get-started/start-your-journey/hello-world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4326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/>
        </p:nvSpPr>
        <p:spPr>
          <a:xfrm>
            <a:off x="658368" y="1463040"/>
            <a:ext cx="60350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 b="1" i="0" u="none" strike="noStrike" cap="none">
                <a:solidFill>
                  <a:srgbClr val="FFFCF7"/>
                </a:solidFill>
                <a:latin typeface="Arial"/>
                <a:ea typeface="Arial"/>
                <a:cs typeface="Arial"/>
                <a:sym typeface="Arial"/>
              </a:rPr>
              <a:t>Git &amp; GitHub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658368" y="2487168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CF7"/>
                </a:solidFill>
                <a:latin typeface="Arial"/>
                <a:ea typeface="Arial"/>
                <a:cs typeface="Arial"/>
                <a:sym typeface="Arial"/>
              </a:rPr>
              <a:t>Module 0: Foundations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6629400" y="1691640"/>
            <a:ext cx="1143000" cy="1143000"/>
          </a:xfrm>
          <a:prstGeom prst="ellipse">
            <a:avLst/>
          </a:prstGeom>
          <a:solidFill>
            <a:srgbClr val="FFF6E4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40296" y="1993392"/>
            <a:ext cx="530352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6400800" y="2971800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CF7"/>
                </a:solidFill>
                <a:latin typeface="Arial"/>
                <a:ea typeface="Arial"/>
                <a:cs typeface="Arial"/>
                <a:sym typeface="Arial"/>
              </a:rPr>
              <a:t>local folder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872983" y="203911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EEBC3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8183879" y="1691640"/>
            <a:ext cx="1143000" cy="1143000"/>
          </a:xfrm>
          <a:prstGeom prst="ellipse">
            <a:avLst/>
          </a:prstGeom>
          <a:solidFill>
            <a:srgbClr val="FFF6E4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94776" y="1993392"/>
            <a:ext cx="530352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 txBox="1"/>
          <p:nvPr/>
        </p:nvSpPr>
        <p:spPr>
          <a:xfrm>
            <a:off x="7955279" y="2971800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CF7"/>
                </a:solidFill>
                <a:latin typeface="Arial"/>
                <a:ea typeface="Arial"/>
                <a:cs typeface="Arial"/>
                <a:sym typeface="Arial"/>
              </a:rPr>
              <a:t>commit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9427463" y="203911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EEBC3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95" name="Google Shape;95;p13"/>
          <p:cNvSpPr/>
          <p:nvPr/>
        </p:nvSpPr>
        <p:spPr>
          <a:xfrm>
            <a:off x="9738360" y="1691640"/>
            <a:ext cx="1143000" cy="1143000"/>
          </a:xfrm>
          <a:prstGeom prst="ellipse">
            <a:avLst/>
          </a:prstGeom>
          <a:solidFill>
            <a:srgbClr val="FFF6E4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13" descr="github_forest_900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49256" y="1993392"/>
            <a:ext cx="530352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3"/>
          <p:cNvSpPr txBox="1"/>
          <p:nvPr/>
        </p:nvSpPr>
        <p:spPr>
          <a:xfrm>
            <a:off x="9509760" y="2971800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CF7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594360" y="647395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FFFCF7"/>
                </a:solidFill>
                <a:latin typeface="Arial"/>
                <a:ea typeface="Arial"/>
                <a:cs typeface="Arial"/>
                <a:sym typeface="Arial"/>
              </a:rPr>
              <a:t>Git &amp; GitHub  |  Module 0: Foundations</a:t>
            </a:r>
            <a:endParaRPr/>
          </a:p>
        </p:txBody>
      </p:sp>
      <p:pic>
        <p:nvPicPr>
          <p:cNvPr id="99" name="Google Shape;99;p13" descr="image5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814255" y="6400800"/>
            <a:ext cx="1806854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 txBox="1"/>
          <p:nvPr/>
        </p:nvSpPr>
        <p:spPr>
          <a:xfrm>
            <a:off x="594360" y="786384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By the End of Today, You’ll Be Able To…</a:t>
            </a:r>
            <a:endParaRPr/>
          </a:p>
        </p:txBody>
      </p:sp>
      <p:pic>
        <p:nvPicPr>
          <p:cNvPr id="106" name="Google Shape;106;p14" descr="task_list_forest_900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07040" y="59436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594360" y="647395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&amp; GitHub  |  Module 0: Foundations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713232" y="1874519"/>
            <a:ext cx="3337560" cy="2514600"/>
          </a:xfrm>
          <a:prstGeom prst="roundRect">
            <a:avLst>
              <a:gd name="adj" fmla="val 16667"/>
            </a:avLst>
          </a:prstGeom>
          <a:solidFill>
            <a:srgbClr val="A6C2B4"/>
          </a:solidFill>
          <a:ln w="22850" cap="flat" cmpd="sng">
            <a:solidFill>
              <a:srgbClr val="26432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2688" y="209397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1572768" y="2075688"/>
            <a:ext cx="227685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969264" y="2651760"/>
            <a:ext cx="2825496" cy="1581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Start a local git repository</a:t>
            </a:r>
            <a:endParaRPr/>
          </a:p>
        </p:txBody>
      </p:sp>
      <p:sp>
        <p:nvSpPr>
          <p:cNvPr id="112" name="Google Shape;112;p14"/>
          <p:cNvSpPr/>
          <p:nvPr/>
        </p:nvSpPr>
        <p:spPr>
          <a:xfrm>
            <a:off x="4489704" y="1874519"/>
            <a:ext cx="3337560" cy="2514600"/>
          </a:xfrm>
          <a:prstGeom prst="roundRect">
            <a:avLst>
              <a:gd name="adj" fmla="val 16667"/>
            </a:avLst>
          </a:prstGeom>
          <a:solidFill>
            <a:srgbClr val="DEEAF4"/>
          </a:solidFill>
          <a:ln w="22850" cap="flat" cmpd="sng">
            <a:solidFill>
              <a:srgbClr val="2274B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09160" y="209397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5349240" y="2075688"/>
            <a:ext cx="227685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4745736" y="2651760"/>
            <a:ext cx="2825496" cy="1581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Make a well-messaged commit</a:t>
            </a:r>
            <a:endParaRPr/>
          </a:p>
        </p:txBody>
      </p:sp>
      <p:sp>
        <p:nvSpPr>
          <p:cNvPr id="116" name="Google Shape;116;p14"/>
          <p:cNvSpPr/>
          <p:nvPr/>
        </p:nvSpPr>
        <p:spPr>
          <a:xfrm>
            <a:off x="8266175" y="1874519"/>
            <a:ext cx="3337560" cy="2514600"/>
          </a:xfrm>
          <a:prstGeom prst="roundRect">
            <a:avLst>
              <a:gd name="adj" fmla="val 16667"/>
            </a:avLst>
          </a:prstGeom>
          <a:solidFill>
            <a:srgbClr val="FECC5B"/>
          </a:solidFill>
          <a:ln w="22850" cap="flat" cmpd="sng">
            <a:solidFill>
              <a:srgbClr val="83671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14" descr="github_forest_900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85632" y="209397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4"/>
          <p:cNvSpPr txBox="1"/>
          <p:nvPr/>
        </p:nvSpPr>
        <p:spPr>
          <a:xfrm>
            <a:off x="9125711" y="2075688"/>
            <a:ext cx="227685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8522207" y="2651760"/>
            <a:ext cx="2825496" cy="1581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Push your first commit to GitHub</a:t>
            </a:r>
            <a:endParaRPr/>
          </a:p>
        </p:txBody>
      </p:sp>
      <p:pic>
        <p:nvPicPr>
          <p:cNvPr id="120" name="Google Shape;120;p14" descr="image1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814255" y="6400800"/>
            <a:ext cx="1806854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5"/>
          <p:cNvSpPr txBox="1"/>
          <p:nvPr/>
        </p:nvSpPr>
        <p:spPr>
          <a:xfrm>
            <a:off x="594360" y="786384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Is a Notebook; GitHub Is the Shared Shelf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594360" y="647395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&amp; GitHub  |  Module 0: Foundations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914400" y="5440680"/>
            <a:ext cx="2057400" cy="384048"/>
          </a:xfrm>
          <a:prstGeom prst="roundRect">
            <a:avLst>
              <a:gd name="adj" fmla="val 16667"/>
            </a:avLst>
          </a:prstGeom>
          <a:solidFill>
            <a:srgbClr val="A6C2B4"/>
          </a:solidFill>
          <a:ln w="13950" cap="flat" cmpd="sng">
            <a:solidFill>
              <a:srgbClr val="26432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960120" y="5495544"/>
            <a:ext cx="1965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= LOCAL HISTORY</a:t>
            </a: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8641080" y="5440680"/>
            <a:ext cx="2331720" cy="384048"/>
          </a:xfrm>
          <a:prstGeom prst="roundRect">
            <a:avLst>
              <a:gd name="adj" fmla="val 16667"/>
            </a:avLst>
          </a:prstGeom>
          <a:solidFill>
            <a:srgbClr val="DEEAF4"/>
          </a:solidFill>
          <a:ln w="13950" cap="flat" cmpd="sng">
            <a:solidFill>
              <a:srgbClr val="2274B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8686800" y="5495544"/>
            <a:ext cx="2240279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GITHUB = SHARED HOME</a:t>
            </a:r>
            <a:endParaRPr/>
          </a:p>
        </p:txBody>
      </p:sp>
      <p:pic>
        <p:nvPicPr>
          <p:cNvPr id="132" name="Google Shape;132;p15" descr="image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14255" y="6400800"/>
            <a:ext cx="1806854" cy="201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 descr="git_github_analogy_no_fake_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1792" y="1645920"/>
            <a:ext cx="10972800" cy="38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5"/>
          <p:cNvSpPr/>
          <p:nvPr/>
        </p:nvSpPr>
        <p:spPr>
          <a:xfrm>
            <a:off x="914400" y="5440680"/>
            <a:ext cx="2057400" cy="384048"/>
          </a:xfrm>
          <a:prstGeom prst="roundRect">
            <a:avLst>
              <a:gd name="adj" fmla="val 16667"/>
            </a:avLst>
          </a:prstGeom>
          <a:solidFill>
            <a:srgbClr val="A6C2B4"/>
          </a:solidFill>
          <a:ln w="13950" cap="flat" cmpd="sng">
            <a:solidFill>
              <a:srgbClr val="26432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960120" y="5495544"/>
            <a:ext cx="1965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= LOCAL HISTORY</a:t>
            </a: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8641080" y="5440680"/>
            <a:ext cx="2331720" cy="384048"/>
          </a:xfrm>
          <a:prstGeom prst="roundRect">
            <a:avLst>
              <a:gd name="adj" fmla="val 16667"/>
            </a:avLst>
          </a:prstGeom>
          <a:solidFill>
            <a:srgbClr val="DEEAF4"/>
          </a:solidFill>
          <a:ln w="13950" cap="flat" cmpd="sng">
            <a:solidFill>
              <a:srgbClr val="2274B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8686800" y="5495544"/>
            <a:ext cx="2240279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GITHUB = SHARED HOME</a:t>
            </a:r>
            <a:endParaRPr/>
          </a:p>
        </p:txBody>
      </p:sp>
      <p:pic>
        <p:nvPicPr>
          <p:cNvPr id="138" name="Google Shape;138;p15" descr="image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14255" y="6400800"/>
            <a:ext cx="1806854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/>
          <p:nvPr/>
        </p:nvSpPr>
        <p:spPr>
          <a:xfrm>
            <a:off x="594360" y="786384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Key Terms</a:t>
            </a:r>
            <a:endParaRPr/>
          </a:p>
        </p:txBody>
      </p:sp>
      <p:pic>
        <p:nvPicPr>
          <p:cNvPr id="145" name="Google Shape;145;p16" descr="menu_book_gold_700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07040" y="59436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594360" y="647395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&amp; GitHub  |  Module 0: Foundations</a:t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713232" y="1874519"/>
            <a:ext cx="3337560" cy="2514600"/>
          </a:xfrm>
          <a:prstGeom prst="roundRect">
            <a:avLst>
              <a:gd name="adj" fmla="val 16667"/>
            </a:avLst>
          </a:prstGeom>
          <a:solidFill>
            <a:srgbClr val="A6C2B4"/>
          </a:solidFill>
          <a:ln w="22850" cap="flat" cmpd="sng">
            <a:solidFill>
              <a:srgbClr val="26432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2688" y="209397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1572768" y="2075688"/>
            <a:ext cx="227685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Repository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969264" y="2651760"/>
            <a:ext cx="2825496" cy="1581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A project folder git is tracking</a:t>
            </a: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4489704" y="1874519"/>
            <a:ext cx="3337560" cy="2514600"/>
          </a:xfrm>
          <a:prstGeom prst="roundRect">
            <a:avLst>
              <a:gd name="adj" fmla="val 16667"/>
            </a:avLst>
          </a:prstGeom>
          <a:solidFill>
            <a:srgbClr val="DEEAF4"/>
          </a:solidFill>
          <a:ln w="22850" cap="flat" cmpd="sng">
            <a:solidFill>
              <a:srgbClr val="2274B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09160" y="209397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6"/>
          <p:cNvSpPr txBox="1"/>
          <p:nvPr/>
        </p:nvSpPr>
        <p:spPr>
          <a:xfrm>
            <a:off x="5349240" y="2075688"/>
            <a:ext cx="227685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Commit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4745736" y="2651760"/>
            <a:ext cx="2825496" cy="1581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A saved snapshot at one point in time</a:t>
            </a:r>
            <a:endParaRPr/>
          </a:p>
        </p:txBody>
      </p:sp>
      <p:sp>
        <p:nvSpPr>
          <p:cNvPr id="155" name="Google Shape;155;p16"/>
          <p:cNvSpPr/>
          <p:nvPr/>
        </p:nvSpPr>
        <p:spPr>
          <a:xfrm>
            <a:off x="8266175" y="1874519"/>
            <a:ext cx="3337560" cy="2514600"/>
          </a:xfrm>
          <a:prstGeom prst="roundRect">
            <a:avLst>
              <a:gd name="adj" fmla="val 16667"/>
            </a:avLst>
          </a:prstGeom>
          <a:solidFill>
            <a:srgbClr val="FECC5B"/>
          </a:solidFill>
          <a:ln w="22850" cap="flat" cmpd="sng">
            <a:solidFill>
              <a:srgbClr val="83671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16" descr="cloud_upload_gold_700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85632" y="209397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6"/>
          <p:cNvSpPr txBox="1"/>
          <p:nvPr/>
        </p:nvSpPr>
        <p:spPr>
          <a:xfrm>
            <a:off x="9125711" y="2075688"/>
            <a:ext cx="227685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Remote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8522207" y="2651760"/>
            <a:ext cx="2825496" cy="1581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A hosted copy, like GitHub</a:t>
            </a:r>
            <a:endParaRPr/>
          </a:p>
        </p:txBody>
      </p:sp>
      <p:pic>
        <p:nvPicPr>
          <p:cNvPr id="159" name="Google Shape;159;p16" descr="image1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814255" y="6400800"/>
            <a:ext cx="1806854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4326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"/>
          <p:cNvSpPr txBox="1"/>
          <p:nvPr/>
        </p:nvSpPr>
        <p:spPr>
          <a:xfrm>
            <a:off x="658368" y="658368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EEBC32"/>
                </a:solidFill>
                <a:latin typeface="Arial"/>
                <a:ea typeface="Arial"/>
                <a:cs typeface="Arial"/>
                <a:sym typeface="Arial"/>
              </a:rPr>
              <a:t>TERMS NAMED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658368" y="1417320"/>
            <a:ext cx="7955279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solidFill>
                  <a:srgbClr val="FFFCF7"/>
                </a:solidFill>
                <a:latin typeface="Arial"/>
                <a:ea typeface="Arial"/>
                <a:cs typeface="Arial"/>
                <a:sym typeface="Arial"/>
              </a:rPr>
              <a:t>Code Along: Start Tracking a Project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658368" y="2487168"/>
            <a:ext cx="804672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>
                <a:solidFill>
                  <a:srgbClr val="FFFCF7"/>
                </a:solidFill>
                <a:latin typeface="Arial"/>
                <a:ea typeface="Arial"/>
                <a:cs typeface="Arial"/>
                <a:sym typeface="Arial"/>
              </a:rPr>
              <a:t>A repository is just a folder git is watching — let’s actually make one.</a:t>
            </a:r>
            <a:endParaRPr/>
          </a:p>
        </p:txBody>
      </p:sp>
      <p:sp>
        <p:nvSpPr>
          <p:cNvPr id="168" name="Google Shape;168;p17"/>
          <p:cNvSpPr/>
          <p:nvPr/>
        </p:nvSpPr>
        <p:spPr>
          <a:xfrm>
            <a:off x="9692640" y="1554480"/>
            <a:ext cx="1417320" cy="1417320"/>
          </a:xfrm>
          <a:prstGeom prst="ellipse">
            <a:avLst/>
          </a:prstGeom>
          <a:solidFill>
            <a:srgbClr val="A6C2B4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17" descr="terminal_forest_900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2680" y="1856231"/>
            <a:ext cx="749808" cy="749808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7"/>
          <p:cNvSpPr txBox="1"/>
          <p:nvPr/>
        </p:nvSpPr>
        <p:spPr>
          <a:xfrm>
            <a:off x="594360" y="647395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FFFCF7"/>
                </a:solidFill>
                <a:latin typeface="Arial"/>
                <a:ea typeface="Arial"/>
                <a:cs typeface="Arial"/>
                <a:sym typeface="Arial"/>
              </a:rPr>
              <a:t>Git &amp; GitHub  |  Module 0: Foundations</a:t>
            </a:r>
            <a:endParaRPr/>
          </a:p>
        </p:txBody>
      </p:sp>
      <p:pic>
        <p:nvPicPr>
          <p:cNvPr id="171" name="Google Shape;171;p17" descr="image5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14255" y="6400800"/>
            <a:ext cx="1806854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"/>
          <p:cNvSpPr txBox="1"/>
          <p:nvPr/>
        </p:nvSpPr>
        <p:spPr>
          <a:xfrm>
            <a:off x="594360" y="786384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Start Tracking a Project</a:t>
            </a:r>
            <a:endParaRPr/>
          </a:p>
        </p:txBody>
      </p:sp>
      <p:pic>
        <p:nvPicPr>
          <p:cNvPr id="178" name="Google Shape;178;p18" descr="terminal_forest_900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07040" y="59436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 txBox="1"/>
          <p:nvPr/>
        </p:nvSpPr>
        <p:spPr>
          <a:xfrm>
            <a:off x="594360" y="647395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&amp; GitHub  |  Module 0: Foundations</a:t>
            </a: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731520" y="1874519"/>
            <a:ext cx="10744200" cy="2468880"/>
          </a:xfrm>
          <a:prstGeom prst="roundRect">
            <a:avLst>
              <a:gd name="adj" fmla="val 16667"/>
            </a:avLst>
          </a:prstGeom>
          <a:solidFill>
            <a:srgbClr val="1E1E1E"/>
          </a:solidFill>
          <a:ln w="9525" cap="flat" cmpd="sng">
            <a:solidFill>
              <a:srgbClr val="1E1E1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1024128" y="2103120"/>
            <a:ext cx="1015898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EEBC32"/>
                </a:solidFill>
                <a:latin typeface="Arial"/>
                <a:ea typeface="Arial"/>
                <a:cs typeface="Arial"/>
                <a:sym typeface="Arial"/>
              </a:rPr>
              <a:t>bash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1060704" y="2587752"/>
            <a:ext cx="10085832" cy="1536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>
                <a:solidFill>
                  <a:srgbClr val="FFFCF7"/>
                </a:solidFill>
                <a:latin typeface="Courier New"/>
                <a:ea typeface="Courier New"/>
                <a:cs typeface="Courier New"/>
                <a:sym typeface="Courier New"/>
              </a:rPr>
              <a:t>$ mkdir my-first-repo</a:t>
            </a:r>
            <a:br>
              <a:rPr lang="en-US" sz="2300" b="0">
                <a:solidFill>
                  <a:srgbClr val="FFFCF7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300" b="0">
                <a:solidFill>
                  <a:srgbClr val="FFFCF7"/>
                </a:solidFill>
                <a:latin typeface="Courier New"/>
                <a:ea typeface="Courier New"/>
                <a:cs typeface="Courier New"/>
                <a:sym typeface="Courier New"/>
              </a:rPr>
              <a:t>$ cd my-first-repo</a:t>
            </a:r>
            <a:br>
              <a:rPr lang="en-US" sz="2300" b="0">
                <a:solidFill>
                  <a:srgbClr val="FFFCF7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300" b="0">
                <a:solidFill>
                  <a:srgbClr val="FFFCF7"/>
                </a:solidFill>
                <a:latin typeface="Courier New"/>
                <a:ea typeface="Courier New"/>
                <a:cs typeface="Courier New"/>
                <a:sym typeface="Courier New"/>
              </a:rPr>
              <a:t>$ git init</a:t>
            </a:r>
            <a:endParaRPr/>
          </a:p>
        </p:txBody>
      </p:sp>
      <p:sp>
        <p:nvSpPr>
          <p:cNvPr id="183" name="Google Shape;183;p18"/>
          <p:cNvSpPr/>
          <p:nvPr/>
        </p:nvSpPr>
        <p:spPr>
          <a:xfrm>
            <a:off x="731520" y="4526280"/>
            <a:ext cx="10744200" cy="749808"/>
          </a:xfrm>
          <a:prstGeom prst="roundRect">
            <a:avLst>
              <a:gd name="adj" fmla="val 16667"/>
            </a:avLst>
          </a:prstGeom>
          <a:solidFill>
            <a:srgbClr val="A6C2B4"/>
          </a:solidFill>
          <a:ln w="15225" cap="flat" cmpd="sng">
            <a:solidFill>
              <a:srgbClr val="26432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 txBox="1"/>
          <p:nvPr/>
        </p:nvSpPr>
        <p:spPr>
          <a:xfrm>
            <a:off x="1005840" y="4663440"/>
            <a:ext cx="10195500" cy="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Run this together. Then use </a:t>
            </a:r>
            <a:r>
              <a:rPr lang="en-US" sz="2100" b="1">
                <a:solidFill>
                  <a:srgbClr val="261F1D"/>
                </a:solidFill>
              </a:rPr>
              <a:t>ls -a</a:t>
            </a:r>
            <a:r>
              <a:rPr lang="en-US" sz="21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 to see the hidden .git folder.</a:t>
            </a:r>
            <a:endParaRPr/>
          </a:p>
        </p:txBody>
      </p:sp>
      <p:pic>
        <p:nvPicPr>
          <p:cNvPr id="185" name="Google Shape;185;p18" descr="image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14255" y="6400800"/>
            <a:ext cx="1806854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 txBox="1"/>
          <p:nvPr/>
        </p:nvSpPr>
        <p:spPr>
          <a:xfrm>
            <a:off x="594360" y="786384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A Repo Needs a README</a:t>
            </a:r>
            <a:endParaRPr/>
          </a:p>
        </p:txBody>
      </p:sp>
      <p:pic>
        <p:nvPicPr>
          <p:cNvPr id="192" name="Google Shape;192;p19" descr="file_blue_700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07040" y="59436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 txBox="1"/>
          <p:nvPr/>
        </p:nvSpPr>
        <p:spPr>
          <a:xfrm>
            <a:off x="594360" y="647395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&amp; GitHub  |  Module 0: Foundations</a:t>
            </a:r>
            <a:endParaRPr/>
          </a:p>
        </p:txBody>
      </p:sp>
      <p:sp>
        <p:nvSpPr>
          <p:cNvPr id="194" name="Google Shape;194;p19"/>
          <p:cNvSpPr/>
          <p:nvPr/>
        </p:nvSpPr>
        <p:spPr>
          <a:xfrm>
            <a:off x="685800" y="1828800"/>
            <a:ext cx="5623560" cy="2926080"/>
          </a:xfrm>
          <a:prstGeom prst="roundRect">
            <a:avLst>
              <a:gd name="adj" fmla="val 16667"/>
            </a:avLst>
          </a:prstGeom>
          <a:solidFill>
            <a:srgbClr val="A6C2B4"/>
          </a:solidFill>
          <a:ln w="22850" cap="flat" cmpd="sng">
            <a:solidFill>
              <a:srgbClr val="26432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19" descr="file_blue_700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5256" y="204825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/>
        </p:nvSpPr>
        <p:spPr>
          <a:xfrm>
            <a:off x="1545336" y="2029968"/>
            <a:ext cx="456285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Why it matters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941832" y="2606040"/>
            <a:ext cx="5111400" cy="17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261F1D"/>
                </a:solidFill>
              </a:rPr>
              <a:t>README.md</a:t>
            </a:r>
            <a:r>
              <a:rPr lang="en-US" sz="22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 explains what this project is</a:t>
            </a:r>
            <a:endParaRPr sz="2200" b="0">
              <a:solidFill>
                <a:srgbClr val="261F1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2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2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It’s the first thing anyone else reads</a:t>
            </a:r>
            <a:br>
              <a:rPr lang="en-US" sz="22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2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Write it before you forget why</a:t>
            </a:r>
            <a:endParaRPr/>
          </a:p>
        </p:txBody>
      </p:sp>
      <p:sp>
        <p:nvSpPr>
          <p:cNvPr id="198" name="Google Shape;198;p19"/>
          <p:cNvSpPr/>
          <p:nvPr/>
        </p:nvSpPr>
        <p:spPr>
          <a:xfrm>
            <a:off x="6720840" y="1783080"/>
            <a:ext cx="4297680" cy="2971800"/>
          </a:xfrm>
          <a:prstGeom prst="roundRect">
            <a:avLst>
              <a:gd name="adj" fmla="val 16667"/>
            </a:avLst>
          </a:prstGeom>
          <a:solidFill>
            <a:srgbClr val="FFF6E4"/>
          </a:solidFill>
          <a:ln w="22850" cap="flat" cmpd="sng">
            <a:solidFill>
              <a:srgbClr val="2274B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 txBox="1"/>
          <p:nvPr/>
        </p:nvSpPr>
        <p:spPr>
          <a:xfrm>
            <a:off x="7178040" y="224028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2274B5"/>
                </a:solidFill>
                <a:latin typeface="Arial"/>
                <a:ea typeface="Arial"/>
                <a:cs typeface="Arial"/>
                <a:sym typeface="Arial"/>
              </a:rPr>
              <a:t>README.md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7178040" y="2834640"/>
            <a:ext cx="329184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>
                <a:solidFill>
                  <a:srgbClr val="261F1D"/>
                </a:solidFill>
                <a:latin typeface="Courier New"/>
                <a:ea typeface="Courier New"/>
                <a:cs typeface="Courier New"/>
                <a:sym typeface="Courier New"/>
              </a:rPr>
              <a:t># My First Repo</a:t>
            </a:r>
            <a:br>
              <a:rPr lang="en-US" sz="2200" b="0">
                <a:solidFill>
                  <a:srgbClr val="261F1D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n-US" sz="2200" b="0">
                <a:solidFill>
                  <a:srgbClr val="261F1D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200" b="0">
                <a:solidFill>
                  <a:srgbClr val="261F1D"/>
                </a:solidFill>
                <a:latin typeface="Courier New"/>
                <a:ea typeface="Courier New"/>
                <a:cs typeface="Courier New"/>
                <a:sym typeface="Courier New"/>
              </a:rPr>
              <a:t>This project is a place to practice Git and GitHub.</a:t>
            </a:r>
            <a:endParaRPr/>
          </a:p>
        </p:txBody>
      </p:sp>
      <p:pic>
        <p:nvPicPr>
          <p:cNvPr id="201" name="Google Shape;201;p19" descr="image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14255" y="6400800"/>
            <a:ext cx="1806854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4326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0"/>
          <p:cNvSpPr txBox="1"/>
          <p:nvPr/>
        </p:nvSpPr>
        <p:spPr>
          <a:xfrm>
            <a:off x="658368" y="658368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EEBC32"/>
                </a:solidFill>
                <a:latin typeface="Arial"/>
                <a:ea typeface="Arial"/>
                <a:cs typeface="Arial"/>
                <a:sym typeface="Arial"/>
              </a:rPr>
              <a:t>README WRITTEN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658368" y="1417320"/>
            <a:ext cx="7955279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solidFill>
                  <a:srgbClr val="FFFCF7"/>
                </a:solidFill>
                <a:latin typeface="Arial"/>
                <a:ea typeface="Arial"/>
                <a:cs typeface="Arial"/>
                <a:sym typeface="Arial"/>
              </a:rPr>
              <a:t>Code Along: Stage and Check Status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658368" y="2487168"/>
            <a:ext cx="804672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>
                <a:solidFill>
                  <a:srgbClr val="FFFCF7"/>
                </a:solidFill>
                <a:latin typeface="Arial"/>
                <a:ea typeface="Arial"/>
                <a:cs typeface="Arial"/>
                <a:sym typeface="Arial"/>
              </a:rPr>
              <a:t>Writing the file is one thing — git doesn’t know it exists until you tell it to.</a:t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9692640" y="1554480"/>
            <a:ext cx="1417320" cy="1417320"/>
          </a:xfrm>
          <a:prstGeom prst="ellipse">
            <a:avLst/>
          </a:prstGeom>
          <a:solidFill>
            <a:srgbClr val="A6C2B4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p20" descr="terminal_forest_900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2680" y="1856231"/>
            <a:ext cx="749808" cy="749808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0"/>
          <p:cNvSpPr txBox="1"/>
          <p:nvPr/>
        </p:nvSpPr>
        <p:spPr>
          <a:xfrm>
            <a:off x="594360" y="647395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FFFCF7"/>
                </a:solidFill>
                <a:latin typeface="Arial"/>
                <a:ea typeface="Arial"/>
                <a:cs typeface="Arial"/>
                <a:sym typeface="Arial"/>
              </a:rPr>
              <a:t>Git &amp; GitHub  |  Module 0: Foundations</a:t>
            </a:r>
            <a:endParaRPr/>
          </a:p>
        </p:txBody>
      </p:sp>
      <p:pic>
        <p:nvPicPr>
          <p:cNvPr id="213" name="Google Shape;213;p20" descr="image5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14255" y="6400800"/>
            <a:ext cx="1806854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"/>
          <p:cNvSpPr txBox="1"/>
          <p:nvPr/>
        </p:nvSpPr>
        <p:spPr>
          <a:xfrm>
            <a:off x="594360" y="786384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Stage and Check Status</a:t>
            </a:r>
            <a:endParaRPr/>
          </a:p>
        </p:txBody>
      </p:sp>
      <p:pic>
        <p:nvPicPr>
          <p:cNvPr id="220" name="Google Shape;220;p21" descr="terminal_forest_900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07040" y="59436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1"/>
          <p:cNvSpPr txBox="1"/>
          <p:nvPr/>
        </p:nvSpPr>
        <p:spPr>
          <a:xfrm>
            <a:off x="594360" y="647395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&amp; GitHub  |  Module 0: Foundations</a:t>
            </a:r>
            <a:endParaRPr/>
          </a:p>
        </p:txBody>
      </p:sp>
      <p:sp>
        <p:nvSpPr>
          <p:cNvPr id="222" name="Google Shape;222;p21"/>
          <p:cNvSpPr/>
          <p:nvPr/>
        </p:nvSpPr>
        <p:spPr>
          <a:xfrm>
            <a:off x="731520" y="1874519"/>
            <a:ext cx="10744200" cy="2468880"/>
          </a:xfrm>
          <a:prstGeom prst="roundRect">
            <a:avLst>
              <a:gd name="adj" fmla="val 16667"/>
            </a:avLst>
          </a:prstGeom>
          <a:solidFill>
            <a:srgbClr val="1E1E1E"/>
          </a:solidFill>
          <a:ln w="9525" cap="flat" cmpd="sng">
            <a:solidFill>
              <a:srgbClr val="1E1E1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1024128" y="2103120"/>
            <a:ext cx="1015898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EEBC32"/>
                </a:solidFill>
                <a:latin typeface="Arial"/>
                <a:ea typeface="Arial"/>
                <a:cs typeface="Arial"/>
                <a:sym typeface="Arial"/>
              </a:rPr>
              <a:t>bash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1060704" y="2587752"/>
            <a:ext cx="10085832" cy="1135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dirty="0">
                <a:solidFill>
                  <a:srgbClr val="FFFCF7"/>
                </a:solidFill>
                <a:latin typeface="Courier New"/>
                <a:ea typeface="Courier New"/>
                <a:cs typeface="Courier New"/>
                <a:sym typeface="Courier New"/>
              </a:rPr>
              <a:t>$ touch </a:t>
            </a:r>
            <a:r>
              <a:rPr lang="en-US" sz="2300" b="0" dirty="0" err="1">
                <a:solidFill>
                  <a:srgbClr val="FFFCF7"/>
                </a:solidFill>
                <a:latin typeface="Courier New"/>
                <a:ea typeface="Courier New"/>
                <a:cs typeface="Courier New"/>
                <a:sym typeface="Courier New"/>
              </a:rPr>
              <a:t>README.md</a:t>
            </a:r>
            <a:endParaRPr lang="en-US" sz="2300" b="0" dirty="0">
              <a:solidFill>
                <a:srgbClr val="FFFCF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dirty="0">
                <a:solidFill>
                  <a:srgbClr val="FFFCF7"/>
                </a:solidFill>
                <a:latin typeface="Courier New"/>
                <a:ea typeface="Courier New"/>
                <a:cs typeface="Courier New"/>
                <a:sym typeface="Courier New"/>
              </a:rPr>
              <a:t>$ git add </a:t>
            </a:r>
            <a:r>
              <a:rPr lang="en-US" sz="2300" b="0" dirty="0" err="1">
                <a:solidFill>
                  <a:srgbClr val="FFFCF7"/>
                </a:solidFill>
                <a:latin typeface="Courier New"/>
                <a:ea typeface="Courier New"/>
                <a:cs typeface="Courier New"/>
                <a:sym typeface="Courier New"/>
              </a:rPr>
              <a:t>README.md</a:t>
            </a:r>
            <a:br>
              <a:rPr lang="en-US" sz="2300" b="0" dirty="0">
                <a:solidFill>
                  <a:srgbClr val="FFFCF7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300" b="0" dirty="0">
                <a:solidFill>
                  <a:srgbClr val="FFFCF7"/>
                </a:solidFill>
                <a:latin typeface="Courier New"/>
                <a:ea typeface="Courier New"/>
                <a:cs typeface="Courier New"/>
                <a:sym typeface="Courier New"/>
              </a:rPr>
              <a:t>$ git status</a:t>
            </a:r>
            <a:endParaRPr dirty="0"/>
          </a:p>
        </p:txBody>
      </p:sp>
      <p:sp>
        <p:nvSpPr>
          <p:cNvPr id="225" name="Google Shape;225;p21"/>
          <p:cNvSpPr/>
          <p:nvPr/>
        </p:nvSpPr>
        <p:spPr>
          <a:xfrm>
            <a:off x="731520" y="4526280"/>
            <a:ext cx="10744200" cy="749808"/>
          </a:xfrm>
          <a:prstGeom prst="roundRect">
            <a:avLst>
              <a:gd name="adj" fmla="val 16667"/>
            </a:avLst>
          </a:prstGeom>
          <a:solidFill>
            <a:srgbClr val="A6C2B4"/>
          </a:solidFill>
          <a:ln w="15225" cap="flat" cmpd="sng">
            <a:solidFill>
              <a:srgbClr val="26432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1005840" y="4663440"/>
            <a:ext cx="10195500" cy="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261F1D"/>
                </a:solidFill>
              </a:rPr>
              <a:t>git status</a:t>
            </a:r>
            <a:r>
              <a:rPr lang="en-US" sz="21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 is safe to run any time. Build the habit before and after each command.</a:t>
            </a:r>
            <a:endParaRPr/>
          </a:p>
        </p:txBody>
      </p:sp>
      <p:pic>
        <p:nvPicPr>
          <p:cNvPr id="227" name="Google Shape;227;p21" descr="image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14255" y="6400800"/>
            <a:ext cx="1806854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2"/>
          <p:cNvSpPr txBox="1"/>
          <p:nvPr/>
        </p:nvSpPr>
        <p:spPr>
          <a:xfrm>
            <a:off x="594360" y="786384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Make Your First Commit</a:t>
            </a:r>
            <a:endParaRPr/>
          </a:p>
        </p:txBody>
      </p:sp>
      <p:pic>
        <p:nvPicPr>
          <p:cNvPr id="234" name="Google Shape;23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07040" y="59436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2"/>
          <p:cNvSpPr txBox="1"/>
          <p:nvPr/>
        </p:nvSpPr>
        <p:spPr>
          <a:xfrm>
            <a:off x="594360" y="647395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&amp; GitHub  |  Module 0: Foundations</a:t>
            </a:r>
            <a:endParaRPr/>
          </a:p>
        </p:txBody>
      </p:sp>
      <p:sp>
        <p:nvSpPr>
          <p:cNvPr id="236" name="Google Shape;236;p22"/>
          <p:cNvSpPr/>
          <p:nvPr/>
        </p:nvSpPr>
        <p:spPr>
          <a:xfrm>
            <a:off x="731520" y="1874519"/>
            <a:ext cx="10744200" cy="2011680"/>
          </a:xfrm>
          <a:prstGeom prst="roundRect">
            <a:avLst>
              <a:gd name="adj" fmla="val 16667"/>
            </a:avLst>
          </a:prstGeom>
          <a:solidFill>
            <a:srgbClr val="1E1E1E"/>
          </a:solidFill>
          <a:ln w="9525" cap="flat" cmpd="sng">
            <a:solidFill>
              <a:srgbClr val="1E1E1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 txBox="1"/>
          <p:nvPr/>
        </p:nvSpPr>
        <p:spPr>
          <a:xfrm>
            <a:off x="1024128" y="2103120"/>
            <a:ext cx="1015898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EEBC32"/>
                </a:solidFill>
                <a:latin typeface="Arial"/>
                <a:ea typeface="Arial"/>
                <a:cs typeface="Arial"/>
                <a:sym typeface="Arial"/>
              </a:rPr>
              <a:t>bash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1060704" y="2587752"/>
            <a:ext cx="10085832" cy="107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>
                <a:solidFill>
                  <a:srgbClr val="FFFCF7"/>
                </a:solidFill>
                <a:latin typeface="Courier New"/>
                <a:ea typeface="Courier New"/>
                <a:cs typeface="Courier New"/>
                <a:sym typeface="Courier New"/>
              </a:rPr>
              <a:t>$ git commit -m "Add initial README"</a:t>
            </a:r>
            <a:endParaRPr/>
          </a:p>
        </p:txBody>
      </p:sp>
      <p:sp>
        <p:nvSpPr>
          <p:cNvPr id="239" name="Google Shape;239;p22"/>
          <p:cNvSpPr/>
          <p:nvPr/>
        </p:nvSpPr>
        <p:spPr>
          <a:xfrm>
            <a:off x="731520" y="4069080"/>
            <a:ext cx="10744200" cy="749808"/>
          </a:xfrm>
          <a:prstGeom prst="roundRect">
            <a:avLst>
              <a:gd name="adj" fmla="val 16667"/>
            </a:avLst>
          </a:prstGeom>
          <a:solidFill>
            <a:srgbClr val="A6C2B4"/>
          </a:solidFill>
          <a:ln w="15225" cap="flat" cmpd="sng">
            <a:solidFill>
              <a:srgbClr val="26432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2"/>
          <p:cNvSpPr txBox="1"/>
          <p:nvPr/>
        </p:nvSpPr>
        <p:spPr>
          <a:xfrm>
            <a:off x="1005840" y="4206240"/>
            <a:ext cx="101955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A specific commit message tells future-you what changed.</a:t>
            </a:r>
            <a:endParaRPr/>
          </a:p>
        </p:txBody>
      </p:sp>
      <p:sp>
        <p:nvSpPr>
          <p:cNvPr id="241" name="Google Shape;241;p22"/>
          <p:cNvSpPr/>
          <p:nvPr/>
        </p:nvSpPr>
        <p:spPr>
          <a:xfrm>
            <a:off x="777240" y="4590288"/>
            <a:ext cx="4892040" cy="1234440"/>
          </a:xfrm>
          <a:prstGeom prst="roundRect">
            <a:avLst>
              <a:gd name="adj" fmla="val 16667"/>
            </a:avLst>
          </a:prstGeom>
          <a:solidFill>
            <a:srgbClr val="F7DFDF"/>
          </a:solidFill>
          <a:ln w="22850" cap="flat" cmpd="sng">
            <a:solidFill>
              <a:srgbClr val="C92929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"/>
          <p:cNvSpPr txBox="1"/>
          <p:nvPr/>
        </p:nvSpPr>
        <p:spPr>
          <a:xfrm>
            <a:off x="1005840" y="4736592"/>
            <a:ext cx="44348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Not this:  </a:t>
            </a:r>
            <a:r>
              <a:rPr lang="en-US" sz="24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“update”</a:t>
            </a:r>
            <a:endParaRPr/>
          </a:p>
        </p:txBody>
      </p:sp>
      <p:sp>
        <p:nvSpPr>
          <p:cNvPr id="243" name="Google Shape;243;p22"/>
          <p:cNvSpPr/>
          <p:nvPr/>
        </p:nvSpPr>
        <p:spPr>
          <a:xfrm>
            <a:off x="6492240" y="4590288"/>
            <a:ext cx="4892040" cy="1234440"/>
          </a:xfrm>
          <a:prstGeom prst="roundRect">
            <a:avLst>
              <a:gd name="adj" fmla="val 16667"/>
            </a:avLst>
          </a:prstGeom>
          <a:solidFill>
            <a:srgbClr val="A6C2B4"/>
          </a:solidFill>
          <a:ln w="22850" cap="flat" cmpd="sng">
            <a:solidFill>
              <a:srgbClr val="26432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2"/>
          <p:cNvSpPr txBox="1"/>
          <p:nvPr/>
        </p:nvSpPr>
        <p:spPr>
          <a:xfrm>
            <a:off x="6720840" y="4736592"/>
            <a:ext cx="44348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Do this:  </a:t>
            </a:r>
            <a:r>
              <a:rPr lang="en-US" sz="24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“Add initial README”</a:t>
            </a:r>
            <a:endParaRPr/>
          </a:p>
        </p:txBody>
      </p:sp>
      <p:pic>
        <p:nvPicPr>
          <p:cNvPr id="245" name="Google Shape;245;p22" descr="image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14255" y="6400800"/>
            <a:ext cx="1806854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3"/>
          <p:cNvSpPr txBox="1"/>
          <p:nvPr/>
        </p:nvSpPr>
        <p:spPr>
          <a:xfrm>
            <a:off x="594360" y="786384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See Exactly What Changed</a:t>
            </a:r>
            <a:endParaRPr/>
          </a:p>
        </p:txBody>
      </p:sp>
      <p:pic>
        <p:nvPicPr>
          <p:cNvPr id="252" name="Google Shape;252;p23" descr="git_branch_blue_700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07040" y="59436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3"/>
          <p:cNvSpPr txBox="1"/>
          <p:nvPr/>
        </p:nvSpPr>
        <p:spPr>
          <a:xfrm>
            <a:off x="594360" y="647395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&amp; GitHub  |  Module 0: Foundations</a:t>
            </a:r>
            <a:endParaRPr/>
          </a:p>
        </p:txBody>
      </p:sp>
      <p:sp>
        <p:nvSpPr>
          <p:cNvPr id="254" name="Google Shape;254;p23"/>
          <p:cNvSpPr/>
          <p:nvPr/>
        </p:nvSpPr>
        <p:spPr>
          <a:xfrm>
            <a:off x="731520" y="1874519"/>
            <a:ext cx="10744200" cy="2468880"/>
          </a:xfrm>
          <a:prstGeom prst="roundRect">
            <a:avLst>
              <a:gd name="adj" fmla="val 16667"/>
            </a:avLst>
          </a:prstGeom>
          <a:solidFill>
            <a:srgbClr val="1E1E1E"/>
          </a:solidFill>
          <a:ln w="9525" cap="flat" cmpd="sng">
            <a:solidFill>
              <a:srgbClr val="1E1E1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 txBox="1"/>
          <p:nvPr/>
        </p:nvSpPr>
        <p:spPr>
          <a:xfrm>
            <a:off x="1024128" y="2103120"/>
            <a:ext cx="1015898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EEBC32"/>
                </a:solidFill>
                <a:latin typeface="Arial"/>
                <a:ea typeface="Arial"/>
                <a:cs typeface="Arial"/>
                <a:sym typeface="Arial"/>
              </a:rPr>
              <a:t>bash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1060704" y="2587752"/>
            <a:ext cx="10085832" cy="1536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dirty="0">
                <a:solidFill>
                  <a:srgbClr val="FFFCF7"/>
                </a:solidFill>
                <a:latin typeface="Courier New"/>
                <a:ea typeface="Courier New"/>
                <a:cs typeface="Courier New"/>
                <a:sym typeface="Courier New"/>
              </a:rPr>
              <a:t>$ echo "More notes coming soon." &gt;&gt; </a:t>
            </a:r>
            <a:r>
              <a:rPr lang="en-US" sz="2300" b="0" dirty="0" err="1">
                <a:solidFill>
                  <a:srgbClr val="FFFCF7"/>
                </a:solidFill>
                <a:latin typeface="Courier New"/>
                <a:ea typeface="Courier New"/>
                <a:cs typeface="Courier New"/>
                <a:sym typeface="Courier New"/>
              </a:rPr>
              <a:t>README.md</a:t>
            </a:r>
            <a:br>
              <a:rPr lang="en-US" sz="2300" b="0" dirty="0">
                <a:solidFill>
                  <a:srgbClr val="FFFCF7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300" b="0" dirty="0">
                <a:solidFill>
                  <a:srgbClr val="FFFCF7"/>
                </a:solidFill>
                <a:latin typeface="Courier New"/>
                <a:ea typeface="Courier New"/>
                <a:cs typeface="Courier New"/>
                <a:sym typeface="Courier New"/>
              </a:rPr>
              <a:t>$ git diff</a:t>
            </a:r>
            <a:endParaRPr dirty="0"/>
          </a:p>
        </p:txBody>
      </p:sp>
      <p:sp>
        <p:nvSpPr>
          <p:cNvPr id="257" name="Google Shape;257;p23"/>
          <p:cNvSpPr/>
          <p:nvPr/>
        </p:nvSpPr>
        <p:spPr>
          <a:xfrm>
            <a:off x="731520" y="4526280"/>
            <a:ext cx="10744200" cy="749808"/>
          </a:xfrm>
          <a:prstGeom prst="roundRect">
            <a:avLst>
              <a:gd name="adj" fmla="val 16667"/>
            </a:avLst>
          </a:prstGeom>
          <a:solidFill>
            <a:srgbClr val="A6C2B4"/>
          </a:solidFill>
          <a:ln w="15225" cap="flat" cmpd="sng">
            <a:solidFill>
              <a:srgbClr val="26432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3"/>
          <p:cNvSpPr txBox="1"/>
          <p:nvPr/>
        </p:nvSpPr>
        <p:spPr>
          <a:xfrm>
            <a:off x="1005840" y="4663440"/>
            <a:ext cx="10195500" cy="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261F1D"/>
                </a:solidFill>
              </a:rPr>
              <a:t>git diff </a:t>
            </a:r>
            <a:r>
              <a:rPr lang="en-US" sz="21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shows the actual line-level changes before the next commit.</a:t>
            </a:r>
            <a:endParaRPr/>
          </a:p>
        </p:txBody>
      </p:sp>
      <p:pic>
        <p:nvPicPr>
          <p:cNvPr id="259" name="Google Shape;259;p23" descr="image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14255" y="6400800"/>
            <a:ext cx="1806854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4326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4"/>
          <p:cNvSpPr txBox="1"/>
          <p:nvPr/>
        </p:nvSpPr>
        <p:spPr>
          <a:xfrm>
            <a:off x="658368" y="658368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EEBC32"/>
                </a:solidFill>
                <a:latin typeface="Arial"/>
                <a:ea typeface="Arial"/>
                <a:cs typeface="Arial"/>
                <a:sym typeface="Arial"/>
              </a:rPr>
              <a:t>YOUR LOCAL REPO</a:t>
            </a:r>
            <a:endParaRPr/>
          </a:p>
        </p:txBody>
      </p:sp>
      <p:sp>
        <p:nvSpPr>
          <p:cNvPr id="266" name="Google Shape;266;p24"/>
          <p:cNvSpPr txBox="1"/>
          <p:nvPr/>
        </p:nvSpPr>
        <p:spPr>
          <a:xfrm>
            <a:off x="658368" y="1417320"/>
            <a:ext cx="7955279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solidFill>
                  <a:srgbClr val="FFFCF7"/>
                </a:solidFill>
                <a:latin typeface="Arial"/>
                <a:ea typeface="Arial"/>
                <a:cs typeface="Arial"/>
                <a:sym typeface="Arial"/>
              </a:rPr>
              <a:t>Connecting to GitHub</a:t>
            </a:r>
            <a:endParaRPr/>
          </a:p>
        </p:txBody>
      </p:sp>
      <p:sp>
        <p:nvSpPr>
          <p:cNvPr id="267" name="Google Shape;267;p24"/>
          <p:cNvSpPr txBox="1"/>
          <p:nvPr/>
        </p:nvSpPr>
        <p:spPr>
          <a:xfrm>
            <a:off x="658368" y="2487168"/>
            <a:ext cx="804672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>
                <a:solidFill>
                  <a:srgbClr val="FFFCF7"/>
                </a:solidFill>
                <a:latin typeface="Arial"/>
                <a:ea typeface="Arial"/>
                <a:cs typeface="Arial"/>
                <a:sym typeface="Arial"/>
              </a:rPr>
              <a:t>Everything so far has lived only on your machine — nothing’s been shared with anyone yet.</a:t>
            </a:r>
            <a:endParaRPr/>
          </a:p>
        </p:txBody>
      </p:sp>
      <p:sp>
        <p:nvSpPr>
          <p:cNvPr id="268" name="Google Shape;268;p24"/>
          <p:cNvSpPr/>
          <p:nvPr/>
        </p:nvSpPr>
        <p:spPr>
          <a:xfrm>
            <a:off x="9692640" y="1554480"/>
            <a:ext cx="1417320" cy="1417320"/>
          </a:xfrm>
          <a:prstGeom prst="ellipse">
            <a:avLst/>
          </a:prstGeom>
          <a:solidFill>
            <a:srgbClr val="A6C2B4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9" name="Google Shape;269;p24" descr="cloud_upload_gold_700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2680" y="1856231"/>
            <a:ext cx="749808" cy="749808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4"/>
          <p:cNvSpPr txBox="1"/>
          <p:nvPr/>
        </p:nvSpPr>
        <p:spPr>
          <a:xfrm>
            <a:off x="594360" y="647395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FFFCF7"/>
                </a:solidFill>
                <a:latin typeface="Arial"/>
                <a:ea typeface="Arial"/>
                <a:cs typeface="Arial"/>
                <a:sym typeface="Arial"/>
              </a:rPr>
              <a:t>Git &amp; GitHub  |  Module 0: Foundations</a:t>
            </a:r>
            <a:endParaRPr/>
          </a:p>
        </p:txBody>
      </p:sp>
      <p:pic>
        <p:nvPicPr>
          <p:cNvPr id="271" name="Google Shape;271;p24" descr="image5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14255" y="6400800"/>
            <a:ext cx="1806854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5"/>
          <p:cNvSpPr txBox="1"/>
          <p:nvPr/>
        </p:nvSpPr>
        <p:spPr>
          <a:xfrm>
            <a:off x="594360" y="786384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Making It Public: GitHub</a:t>
            </a:r>
            <a:endParaRPr/>
          </a:p>
        </p:txBody>
      </p:sp>
      <p:pic>
        <p:nvPicPr>
          <p:cNvPr id="278" name="Google Shape;278;p25" descr="github_forest_900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07040" y="59436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5"/>
          <p:cNvSpPr txBox="1"/>
          <p:nvPr/>
        </p:nvSpPr>
        <p:spPr>
          <a:xfrm>
            <a:off x="594360" y="647395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&amp; GitHub  |  Module 0: Foundations</a:t>
            </a:r>
            <a:endParaRPr/>
          </a:p>
        </p:txBody>
      </p:sp>
      <p:sp>
        <p:nvSpPr>
          <p:cNvPr id="280" name="Google Shape;280;p25"/>
          <p:cNvSpPr/>
          <p:nvPr/>
        </p:nvSpPr>
        <p:spPr>
          <a:xfrm>
            <a:off x="713232" y="1874519"/>
            <a:ext cx="3337560" cy="2514600"/>
          </a:xfrm>
          <a:prstGeom prst="roundRect">
            <a:avLst>
              <a:gd name="adj" fmla="val 16667"/>
            </a:avLst>
          </a:prstGeom>
          <a:solidFill>
            <a:srgbClr val="A6C2B4"/>
          </a:solidFill>
          <a:ln w="22850" cap="flat" cmpd="sng">
            <a:solidFill>
              <a:srgbClr val="26432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1" name="Google Shape;281;p25" descr="github_forest_900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2688" y="209397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5"/>
          <p:cNvSpPr txBox="1"/>
          <p:nvPr/>
        </p:nvSpPr>
        <p:spPr>
          <a:xfrm>
            <a:off x="1572768" y="2075688"/>
            <a:ext cx="227685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Create</a:t>
            </a:r>
            <a:endParaRPr/>
          </a:p>
        </p:txBody>
      </p:sp>
      <p:sp>
        <p:nvSpPr>
          <p:cNvPr id="283" name="Google Shape;283;p25"/>
          <p:cNvSpPr txBox="1"/>
          <p:nvPr/>
        </p:nvSpPr>
        <p:spPr>
          <a:xfrm>
            <a:off x="969264" y="2651760"/>
            <a:ext cx="2825496" cy="1581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a new, empty repository on github.com</a:t>
            </a:r>
            <a:endParaRPr/>
          </a:p>
        </p:txBody>
      </p:sp>
      <p:sp>
        <p:nvSpPr>
          <p:cNvPr id="284" name="Google Shape;284;p25"/>
          <p:cNvSpPr/>
          <p:nvPr/>
        </p:nvSpPr>
        <p:spPr>
          <a:xfrm>
            <a:off x="4489704" y="1874519"/>
            <a:ext cx="3337560" cy="2514600"/>
          </a:xfrm>
          <a:prstGeom prst="roundRect">
            <a:avLst>
              <a:gd name="adj" fmla="val 16667"/>
            </a:avLst>
          </a:prstGeom>
          <a:solidFill>
            <a:srgbClr val="DEEAF4"/>
          </a:solidFill>
          <a:ln w="22850" cap="flat" cmpd="sng">
            <a:solidFill>
              <a:srgbClr val="2274B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5" name="Google Shape;285;p25" descr="cloud_upload_gold_700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09160" y="209397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5"/>
          <p:cNvSpPr txBox="1"/>
          <p:nvPr/>
        </p:nvSpPr>
        <p:spPr>
          <a:xfrm>
            <a:off x="5349240" y="2075688"/>
            <a:ext cx="227685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Copy</a:t>
            </a:r>
            <a:endParaRPr/>
          </a:p>
        </p:txBody>
      </p:sp>
      <p:sp>
        <p:nvSpPr>
          <p:cNvPr id="287" name="Google Shape;287;p25"/>
          <p:cNvSpPr txBox="1"/>
          <p:nvPr/>
        </p:nvSpPr>
        <p:spPr>
          <a:xfrm>
            <a:off x="4745736" y="2651760"/>
            <a:ext cx="2825496" cy="1581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the remote URL it gives you</a:t>
            </a:r>
            <a:endParaRPr/>
          </a:p>
        </p:txBody>
      </p:sp>
      <p:sp>
        <p:nvSpPr>
          <p:cNvPr id="288" name="Google Shape;288;p25"/>
          <p:cNvSpPr/>
          <p:nvPr/>
        </p:nvSpPr>
        <p:spPr>
          <a:xfrm>
            <a:off x="8266175" y="1874519"/>
            <a:ext cx="3337560" cy="2514600"/>
          </a:xfrm>
          <a:prstGeom prst="roundRect">
            <a:avLst>
              <a:gd name="adj" fmla="val 16667"/>
            </a:avLst>
          </a:prstGeom>
          <a:solidFill>
            <a:srgbClr val="FECC5B"/>
          </a:solidFill>
          <a:ln w="22850" cap="flat" cmpd="sng">
            <a:solidFill>
              <a:srgbClr val="83671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9" name="Google Shape;289;p25" descr="file_blue_700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85632" y="209397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5"/>
          <p:cNvSpPr txBox="1"/>
          <p:nvPr/>
        </p:nvSpPr>
        <p:spPr>
          <a:xfrm>
            <a:off x="9125711" y="2075688"/>
            <a:ext cx="227685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Skip</a:t>
            </a:r>
            <a:endParaRPr/>
          </a:p>
        </p:txBody>
      </p:sp>
      <p:sp>
        <p:nvSpPr>
          <p:cNvPr id="291" name="Google Shape;291;p25"/>
          <p:cNvSpPr txBox="1"/>
          <p:nvPr/>
        </p:nvSpPr>
        <p:spPr>
          <a:xfrm>
            <a:off x="8522207" y="2651760"/>
            <a:ext cx="2825496" cy="1581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“Add a README” — yours exists</a:t>
            </a:r>
            <a:endParaRPr/>
          </a:p>
        </p:txBody>
      </p:sp>
      <p:pic>
        <p:nvPicPr>
          <p:cNvPr id="292" name="Google Shape;292;p25" descr="image1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814255" y="6400800"/>
            <a:ext cx="1806854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4326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6"/>
          <p:cNvSpPr txBox="1"/>
          <p:nvPr/>
        </p:nvSpPr>
        <p:spPr>
          <a:xfrm>
            <a:off x="658368" y="658368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EEBC32"/>
                </a:solidFill>
                <a:latin typeface="Arial"/>
                <a:ea typeface="Arial"/>
                <a:cs typeface="Arial"/>
                <a:sym typeface="Arial"/>
              </a:rPr>
              <a:t>REMOTE CREATED</a:t>
            </a:r>
            <a:endParaRPr/>
          </a:p>
        </p:txBody>
      </p:sp>
      <p:sp>
        <p:nvSpPr>
          <p:cNvPr id="299" name="Google Shape;299;p26"/>
          <p:cNvSpPr txBox="1"/>
          <p:nvPr/>
        </p:nvSpPr>
        <p:spPr>
          <a:xfrm>
            <a:off x="658368" y="1417320"/>
            <a:ext cx="7955279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solidFill>
                  <a:srgbClr val="FFFCF7"/>
                </a:solidFill>
                <a:latin typeface="Arial"/>
                <a:ea typeface="Arial"/>
                <a:cs typeface="Arial"/>
                <a:sym typeface="Arial"/>
              </a:rPr>
              <a:t>Code Along: Link and Push</a:t>
            </a:r>
            <a:endParaRPr/>
          </a:p>
        </p:txBody>
      </p:sp>
      <p:sp>
        <p:nvSpPr>
          <p:cNvPr id="300" name="Google Shape;300;p26"/>
          <p:cNvSpPr txBox="1"/>
          <p:nvPr/>
        </p:nvSpPr>
        <p:spPr>
          <a:xfrm>
            <a:off x="658368" y="2487168"/>
            <a:ext cx="804672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>
                <a:solidFill>
                  <a:srgbClr val="FFFCF7"/>
                </a:solidFill>
                <a:latin typeface="Arial"/>
                <a:ea typeface="Arial"/>
                <a:cs typeface="Arial"/>
                <a:sym typeface="Arial"/>
              </a:rPr>
              <a:t>An empty GitHub repo and your local commits still don’t know about each other yet — this connects them.</a:t>
            </a:r>
            <a:endParaRPr/>
          </a:p>
        </p:txBody>
      </p:sp>
      <p:sp>
        <p:nvSpPr>
          <p:cNvPr id="301" name="Google Shape;301;p26"/>
          <p:cNvSpPr/>
          <p:nvPr/>
        </p:nvSpPr>
        <p:spPr>
          <a:xfrm>
            <a:off x="9692640" y="1554480"/>
            <a:ext cx="1417320" cy="1417320"/>
          </a:xfrm>
          <a:prstGeom prst="ellipse">
            <a:avLst/>
          </a:prstGeom>
          <a:solidFill>
            <a:srgbClr val="A6C2B4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2" name="Google Shape;302;p26" descr="upload_forest_900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2680" y="1856231"/>
            <a:ext cx="749808" cy="749808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6"/>
          <p:cNvSpPr txBox="1"/>
          <p:nvPr/>
        </p:nvSpPr>
        <p:spPr>
          <a:xfrm>
            <a:off x="594360" y="647395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FFFCF7"/>
                </a:solidFill>
                <a:latin typeface="Arial"/>
                <a:ea typeface="Arial"/>
                <a:cs typeface="Arial"/>
                <a:sym typeface="Arial"/>
              </a:rPr>
              <a:t>Git &amp; GitHub  |  Module 0: Foundations</a:t>
            </a:r>
            <a:endParaRPr/>
          </a:p>
        </p:txBody>
      </p:sp>
      <p:pic>
        <p:nvPicPr>
          <p:cNvPr id="304" name="Google Shape;304;p26" descr="image5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14255" y="6400800"/>
            <a:ext cx="1806854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7"/>
          <p:cNvSpPr txBox="1"/>
          <p:nvPr/>
        </p:nvSpPr>
        <p:spPr>
          <a:xfrm>
            <a:off x="594360" y="786384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Link and Push</a:t>
            </a:r>
            <a:endParaRPr/>
          </a:p>
        </p:txBody>
      </p:sp>
      <p:pic>
        <p:nvPicPr>
          <p:cNvPr id="311" name="Google Shape;311;p27" descr="upload_forest_900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07040" y="59436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7"/>
          <p:cNvSpPr txBox="1"/>
          <p:nvPr/>
        </p:nvSpPr>
        <p:spPr>
          <a:xfrm>
            <a:off x="594360" y="647395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&amp; GitHub  |  Module 0: Foundations</a:t>
            </a:r>
            <a:endParaRPr/>
          </a:p>
        </p:txBody>
      </p:sp>
      <p:sp>
        <p:nvSpPr>
          <p:cNvPr id="313" name="Google Shape;313;p27"/>
          <p:cNvSpPr/>
          <p:nvPr/>
        </p:nvSpPr>
        <p:spPr>
          <a:xfrm>
            <a:off x="731520" y="1874519"/>
            <a:ext cx="10744200" cy="2468880"/>
          </a:xfrm>
          <a:prstGeom prst="roundRect">
            <a:avLst>
              <a:gd name="adj" fmla="val 16667"/>
            </a:avLst>
          </a:prstGeom>
          <a:solidFill>
            <a:srgbClr val="1E1E1E"/>
          </a:solidFill>
          <a:ln w="9525" cap="flat" cmpd="sng">
            <a:solidFill>
              <a:srgbClr val="1E1E1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7"/>
          <p:cNvSpPr txBox="1"/>
          <p:nvPr/>
        </p:nvSpPr>
        <p:spPr>
          <a:xfrm>
            <a:off x="1024128" y="2103120"/>
            <a:ext cx="1015898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EEBC32"/>
                </a:solidFill>
                <a:latin typeface="Arial"/>
                <a:ea typeface="Arial"/>
                <a:cs typeface="Arial"/>
                <a:sym typeface="Arial"/>
              </a:rPr>
              <a:t>bash</a:t>
            </a:r>
            <a:endParaRPr/>
          </a:p>
        </p:txBody>
      </p:sp>
      <p:sp>
        <p:nvSpPr>
          <p:cNvPr id="315" name="Google Shape;315;p27"/>
          <p:cNvSpPr txBox="1"/>
          <p:nvPr/>
        </p:nvSpPr>
        <p:spPr>
          <a:xfrm>
            <a:off x="1060704" y="2587752"/>
            <a:ext cx="10085832" cy="1536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dirty="0">
                <a:solidFill>
                  <a:srgbClr val="FFFCF7"/>
                </a:solidFill>
                <a:latin typeface="Courier New"/>
                <a:ea typeface="Courier New"/>
                <a:cs typeface="Courier New"/>
                <a:sym typeface="Courier New"/>
              </a:rPr>
              <a:t>$ git remote add origin &lt;your-repo-</a:t>
            </a:r>
            <a:r>
              <a:rPr lang="en-US" sz="2300" b="0" dirty="0" err="1">
                <a:solidFill>
                  <a:srgbClr val="FFFCF7"/>
                </a:solidFill>
                <a:latin typeface="Courier New"/>
                <a:ea typeface="Courier New"/>
                <a:cs typeface="Courier New"/>
                <a:sym typeface="Courier New"/>
              </a:rPr>
              <a:t>url</a:t>
            </a:r>
            <a:r>
              <a:rPr lang="en-US" sz="2300" b="0" dirty="0">
                <a:solidFill>
                  <a:srgbClr val="FFFCF7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br>
              <a:rPr lang="en-US" sz="2300" b="0" dirty="0">
                <a:solidFill>
                  <a:srgbClr val="FFFCF7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300" b="0" dirty="0">
                <a:solidFill>
                  <a:srgbClr val="FFFCF7"/>
                </a:solidFill>
                <a:latin typeface="Courier New"/>
                <a:ea typeface="Courier New"/>
                <a:cs typeface="Courier New"/>
                <a:sym typeface="Courier New"/>
              </a:rPr>
              <a:t>$ git push -u origin main</a:t>
            </a:r>
            <a:endParaRPr dirty="0"/>
          </a:p>
        </p:txBody>
      </p:sp>
      <p:sp>
        <p:nvSpPr>
          <p:cNvPr id="316" name="Google Shape;316;p27"/>
          <p:cNvSpPr/>
          <p:nvPr/>
        </p:nvSpPr>
        <p:spPr>
          <a:xfrm>
            <a:off x="731520" y="4526280"/>
            <a:ext cx="10744200" cy="749808"/>
          </a:xfrm>
          <a:prstGeom prst="roundRect">
            <a:avLst>
              <a:gd name="adj" fmla="val 16667"/>
            </a:avLst>
          </a:prstGeom>
          <a:solidFill>
            <a:srgbClr val="A6C2B4"/>
          </a:solidFill>
          <a:ln w="15225" cap="flat" cmpd="sng">
            <a:solidFill>
              <a:srgbClr val="26432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7"/>
          <p:cNvSpPr txBox="1"/>
          <p:nvPr/>
        </p:nvSpPr>
        <p:spPr>
          <a:xfrm>
            <a:off x="1005840" y="4663440"/>
            <a:ext cx="101955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This is the moment your local work becomes visible on GitHub.</a:t>
            </a:r>
            <a:endParaRPr/>
          </a:p>
        </p:txBody>
      </p:sp>
      <p:pic>
        <p:nvPicPr>
          <p:cNvPr id="318" name="Google Shape;318;p27" descr="image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14255" y="6400800"/>
            <a:ext cx="1806854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8"/>
          <p:cNvSpPr txBox="1"/>
          <p:nvPr/>
        </p:nvSpPr>
        <p:spPr>
          <a:xfrm>
            <a:off x="594360" y="786384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See Your Own History</a:t>
            </a:r>
            <a:endParaRPr/>
          </a:p>
        </p:txBody>
      </p:sp>
      <p:pic>
        <p:nvPicPr>
          <p:cNvPr id="325" name="Google Shape;325;p28" descr="git_branch_blue_700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07040" y="59436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8"/>
          <p:cNvSpPr txBox="1"/>
          <p:nvPr/>
        </p:nvSpPr>
        <p:spPr>
          <a:xfrm>
            <a:off x="594360" y="647395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&amp; GitHub  |  Module 0: Foundations</a:t>
            </a:r>
            <a:endParaRPr/>
          </a:p>
        </p:txBody>
      </p:sp>
      <p:sp>
        <p:nvSpPr>
          <p:cNvPr id="327" name="Google Shape;327;p28"/>
          <p:cNvSpPr/>
          <p:nvPr/>
        </p:nvSpPr>
        <p:spPr>
          <a:xfrm>
            <a:off x="731520" y="1874519"/>
            <a:ext cx="10744200" cy="2011680"/>
          </a:xfrm>
          <a:prstGeom prst="roundRect">
            <a:avLst>
              <a:gd name="adj" fmla="val 16667"/>
            </a:avLst>
          </a:prstGeom>
          <a:solidFill>
            <a:srgbClr val="1E1E1E"/>
          </a:solidFill>
          <a:ln w="9525" cap="flat" cmpd="sng">
            <a:solidFill>
              <a:srgbClr val="1E1E1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8"/>
          <p:cNvSpPr txBox="1"/>
          <p:nvPr/>
        </p:nvSpPr>
        <p:spPr>
          <a:xfrm>
            <a:off x="1024128" y="2103120"/>
            <a:ext cx="1015898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EEBC32"/>
                </a:solidFill>
                <a:latin typeface="Arial"/>
                <a:ea typeface="Arial"/>
                <a:cs typeface="Arial"/>
                <a:sym typeface="Arial"/>
              </a:rPr>
              <a:t>bash</a:t>
            </a:r>
            <a:endParaRPr/>
          </a:p>
        </p:txBody>
      </p:sp>
      <p:sp>
        <p:nvSpPr>
          <p:cNvPr id="329" name="Google Shape;329;p28"/>
          <p:cNvSpPr txBox="1"/>
          <p:nvPr/>
        </p:nvSpPr>
        <p:spPr>
          <a:xfrm>
            <a:off x="1060704" y="2587752"/>
            <a:ext cx="10085832" cy="107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>
                <a:solidFill>
                  <a:srgbClr val="FFFCF7"/>
                </a:solidFill>
                <a:latin typeface="Courier New"/>
                <a:ea typeface="Courier New"/>
                <a:cs typeface="Courier New"/>
                <a:sym typeface="Courier New"/>
              </a:rPr>
              <a:t>$ git log --oneline</a:t>
            </a:r>
            <a:endParaRPr/>
          </a:p>
        </p:txBody>
      </p:sp>
      <p:sp>
        <p:nvSpPr>
          <p:cNvPr id="330" name="Google Shape;330;p28"/>
          <p:cNvSpPr/>
          <p:nvPr/>
        </p:nvSpPr>
        <p:spPr>
          <a:xfrm>
            <a:off x="731520" y="4069080"/>
            <a:ext cx="10744200" cy="749808"/>
          </a:xfrm>
          <a:prstGeom prst="roundRect">
            <a:avLst>
              <a:gd name="adj" fmla="val 16667"/>
            </a:avLst>
          </a:prstGeom>
          <a:solidFill>
            <a:srgbClr val="A6C2B4"/>
          </a:solidFill>
          <a:ln w="15225" cap="flat" cmpd="sng">
            <a:solidFill>
              <a:srgbClr val="26432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8"/>
          <p:cNvSpPr txBox="1"/>
          <p:nvPr/>
        </p:nvSpPr>
        <p:spPr>
          <a:xfrm>
            <a:off x="1005840" y="4206240"/>
            <a:ext cx="101955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The payoff: a readable history you built yourself.</a:t>
            </a:r>
            <a:endParaRPr/>
          </a:p>
        </p:txBody>
      </p:sp>
      <p:sp>
        <p:nvSpPr>
          <p:cNvPr id="332" name="Google Shape;332;p28"/>
          <p:cNvSpPr/>
          <p:nvPr/>
        </p:nvSpPr>
        <p:spPr>
          <a:xfrm>
            <a:off x="1097280" y="4709160"/>
            <a:ext cx="9966960" cy="914400"/>
          </a:xfrm>
          <a:prstGeom prst="roundRect">
            <a:avLst>
              <a:gd name="adj" fmla="val 16667"/>
            </a:avLst>
          </a:prstGeom>
          <a:solidFill>
            <a:srgbClr val="FECC5B"/>
          </a:solidFill>
          <a:ln w="22850" cap="flat" cmpd="sng">
            <a:solidFill>
              <a:srgbClr val="83671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8"/>
          <p:cNvSpPr txBox="1"/>
          <p:nvPr/>
        </p:nvSpPr>
        <p:spPr>
          <a:xfrm>
            <a:off x="1463040" y="5010912"/>
            <a:ext cx="9235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A good log is a project timeline, not a mystery.</a:t>
            </a:r>
            <a:endParaRPr/>
          </a:p>
        </p:txBody>
      </p:sp>
      <p:pic>
        <p:nvPicPr>
          <p:cNvPr id="334" name="Google Shape;334;p28" descr="image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14255" y="6400800"/>
            <a:ext cx="1806854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9"/>
          <p:cNvSpPr txBox="1"/>
          <p:nvPr/>
        </p:nvSpPr>
        <p:spPr>
          <a:xfrm>
            <a:off x="594360" y="786384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Common First-Day Errors</a:t>
            </a:r>
            <a:endParaRPr/>
          </a:p>
        </p:txBody>
      </p:sp>
      <p:pic>
        <p:nvPicPr>
          <p:cNvPr id="341" name="Google Shape;341;p29" descr="error_red_700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07040" y="59436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9"/>
          <p:cNvSpPr txBox="1"/>
          <p:nvPr/>
        </p:nvSpPr>
        <p:spPr>
          <a:xfrm>
            <a:off x="594360" y="647395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&amp; GitHub  |  Module 0: Foundations</a:t>
            </a:r>
            <a:endParaRPr/>
          </a:p>
        </p:txBody>
      </p:sp>
      <p:sp>
        <p:nvSpPr>
          <p:cNvPr id="343" name="Google Shape;343;p29"/>
          <p:cNvSpPr/>
          <p:nvPr/>
        </p:nvSpPr>
        <p:spPr>
          <a:xfrm>
            <a:off x="713232" y="1874519"/>
            <a:ext cx="3337560" cy="2514600"/>
          </a:xfrm>
          <a:prstGeom prst="roundRect">
            <a:avLst>
              <a:gd name="adj" fmla="val 16667"/>
            </a:avLst>
          </a:prstGeom>
          <a:solidFill>
            <a:srgbClr val="F7DFDF"/>
          </a:solidFill>
          <a:ln w="22850" cap="flat" cmpd="sng">
            <a:solidFill>
              <a:srgbClr val="C92929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4" name="Google Shape;344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2688" y="209397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9"/>
          <p:cNvSpPr txBox="1"/>
          <p:nvPr/>
        </p:nvSpPr>
        <p:spPr>
          <a:xfrm>
            <a:off x="1572768" y="2075688"/>
            <a:ext cx="227685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"not a git repository"</a:t>
            </a:r>
            <a:endParaRPr/>
          </a:p>
        </p:txBody>
      </p:sp>
      <p:sp>
        <p:nvSpPr>
          <p:cNvPr id="346" name="Google Shape;346;p29"/>
          <p:cNvSpPr txBox="1"/>
          <p:nvPr/>
        </p:nvSpPr>
        <p:spPr>
          <a:xfrm>
            <a:off x="969289" y="2699510"/>
            <a:ext cx="2825400" cy="7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You’re in the wrong folder</a:t>
            </a:r>
            <a:endParaRPr/>
          </a:p>
        </p:txBody>
      </p:sp>
      <p:sp>
        <p:nvSpPr>
          <p:cNvPr id="347" name="Google Shape;347;p29"/>
          <p:cNvSpPr/>
          <p:nvPr/>
        </p:nvSpPr>
        <p:spPr>
          <a:xfrm>
            <a:off x="4489704" y="1874519"/>
            <a:ext cx="3337560" cy="2514600"/>
          </a:xfrm>
          <a:prstGeom prst="roundRect">
            <a:avLst>
              <a:gd name="adj" fmla="val 16667"/>
            </a:avLst>
          </a:prstGeom>
          <a:solidFill>
            <a:srgbClr val="DEEAF4"/>
          </a:solidFill>
          <a:ln w="22850" cap="flat" cmpd="sng">
            <a:solidFill>
              <a:srgbClr val="2274B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8" name="Google Shape;348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09160" y="209397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9"/>
          <p:cNvSpPr txBox="1"/>
          <p:nvPr/>
        </p:nvSpPr>
        <p:spPr>
          <a:xfrm>
            <a:off x="5349240" y="2075688"/>
            <a:ext cx="227685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"nothing to commit"</a:t>
            </a:r>
            <a:endParaRPr/>
          </a:p>
        </p:txBody>
      </p:sp>
      <p:sp>
        <p:nvSpPr>
          <p:cNvPr id="350" name="Google Shape;350;p29"/>
          <p:cNvSpPr txBox="1"/>
          <p:nvPr/>
        </p:nvSpPr>
        <p:spPr>
          <a:xfrm>
            <a:off x="4745749" y="2699510"/>
            <a:ext cx="2825400" cy="7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You probably forgot git add</a:t>
            </a:r>
            <a:endParaRPr/>
          </a:p>
        </p:txBody>
      </p:sp>
      <p:sp>
        <p:nvSpPr>
          <p:cNvPr id="351" name="Google Shape;351;p29"/>
          <p:cNvSpPr/>
          <p:nvPr/>
        </p:nvSpPr>
        <p:spPr>
          <a:xfrm>
            <a:off x="8266175" y="1874519"/>
            <a:ext cx="3337560" cy="2514600"/>
          </a:xfrm>
          <a:prstGeom prst="roundRect">
            <a:avLst>
              <a:gd name="adj" fmla="val 16667"/>
            </a:avLst>
          </a:prstGeom>
          <a:solidFill>
            <a:srgbClr val="FECC5B"/>
          </a:solidFill>
          <a:ln w="22850" cap="flat" cmpd="sng">
            <a:solidFill>
              <a:srgbClr val="83671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2" name="Google Shape;352;p29" descr="github_forest_900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85632" y="209397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9"/>
          <p:cNvSpPr txBox="1"/>
          <p:nvPr/>
        </p:nvSpPr>
        <p:spPr>
          <a:xfrm>
            <a:off x="9125711" y="2075688"/>
            <a:ext cx="227685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Password prompt</a:t>
            </a:r>
            <a:endParaRPr/>
          </a:p>
        </p:txBody>
      </p:sp>
      <p:sp>
        <p:nvSpPr>
          <p:cNvPr id="354" name="Google Shape;354;p29"/>
          <p:cNvSpPr txBox="1"/>
          <p:nvPr/>
        </p:nvSpPr>
        <p:spPr>
          <a:xfrm>
            <a:off x="8522207" y="2651760"/>
            <a:ext cx="2825496" cy="1581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GitHub wants a token</a:t>
            </a:r>
            <a:endParaRPr/>
          </a:p>
        </p:txBody>
      </p:sp>
      <p:pic>
        <p:nvPicPr>
          <p:cNvPr id="355" name="Google Shape;355;p29" descr="image1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814255" y="6400800"/>
            <a:ext cx="1806854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0"/>
          <p:cNvSpPr/>
          <p:nvPr/>
        </p:nvSpPr>
        <p:spPr>
          <a:xfrm>
            <a:off x="594350" y="347476"/>
            <a:ext cx="2194500" cy="502800"/>
          </a:xfrm>
          <a:prstGeom prst="roundRect">
            <a:avLst>
              <a:gd name="adj" fmla="val 16667"/>
            </a:avLst>
          </a:prstGeom>
          <a:solidFill>
            <a:srgbClr val="FECC5B"/>
          </a:solidFill>
          <a:ln w="13950" cap="flat" cmpd="sng">
            <a:solidFill>
              <a:srgbClr val="83671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0"/>
          <p:cNvSpPr txBox="1"/>
          <p:nvPr/>
        </p:nvSpPr>
        <p:spPr>
          <a:xfrm>
            <a:off x="640075" y="402315"/>
            <a:ext cx="21030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CHECK FOR UNDERSTANDING</a:t>
            </a:r>
            <a:endParaRPr/>
          </a:p>
        </p:txBody>
      </p:sp>
      <p:sp>
        <p:nvSpPr>
          <p:cNvPr id="363" name="Google Shape;363;p30"/>
          <p:cNvSpPr txBox="1"/>
          <p:nvPr/>
        </p:nvSpPr>
        <p:spPr>
          <a:xfrm>
            <a:off x="594360" y="786384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Which command tells you what’s actually going on?</a:t>
            </a:r>
            <a:endParaRPr/>
          </a:p>
        </p:txBody>
      </p:sp>
      <p:pic>
        <p:nvPicPr>
          <p:cNvPr id="364" name="Google Shape;364;p30" descr="terminal_forest_900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07040" y="59436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30"/>
          <p:cNvSpPr txBox="1"/>
          <p:nvPr/>
        </p:nvSpPr>
        <p:spPr>
          <a:xfrm>
            <a:off x="594360" y="647395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&amp; GitHub  |  Module 0: Foundations</a:t>
            </a:r>
            <a:endParaRPr/>
          </a:p>
        </p:txBody>
      </p:sp>
      <p:sp>
        <p:nvSpPr>
          <p:cNvPr id="366" name="Google Shape;366;p30"/>
          <p:cNvSpPr txBox="1"/>
          <p:nvPr/>
        </p:nvSpPr>
        <p:spPr>
          <a:xfrm>
            <a:off x="731520" y="1627632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You just ran a command and nothing seemed to happen.</a:t>
            </a:r>
            <a:endParaRPr/>
          </a:p>
        </p:txBody>
      </p:sp>
      <p:sp>
        <p:nvSpPr>
          <p:cNvPr id="367" name="Google Shape;367;p30"/>
          <p:cNvSpPr/>
          <p:nvPr/>
        </p:nvSpPr>
        <p:spPr>
          <a:xfrm>
            <a:off x="713232" y="2468880"/>
            <a:ext cx="3337560" cy="2057400"/>
          </a:xfrm>
          <a:prstGeom prst="roundRect">
            <a:avLst>
              <a:gd name="adj" fmla="val 16667"/>
            </a:avLst>
          </a:prstGeom>
          <a:solidFill>
            <a:srgbClr val="FFF6E4"/>
          </a:solidFill>
          <a:ln w="22850" cap="flat" cmpd="sng">
            <a:solidFill>
              <a:srgbClr val="26432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8" name="Google Shape;368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2688" y="268833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0"/>
          <p:cNvSpPr txBox="1"/>
          <p:nvPr/>
        </p:nvSpPr>
        <p:spPr>
          <a:xfrm>
            <a:off x="1572768" y="2670048"/>
            <a:ext cx="227685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370" name="Google Shape;370;p30"/>
          <p:cNvSpPr txBox="1"/>
          <p:nvPr/>
        </p:nvSpPr>
        <p:spPr>
          <a:xfrm>
            <a:off x="969264" y="3246120"/>
            <a:ext cx="2825496" cy="1124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init</a:t>
            </a:r>
            <a:endParaRPr/>
          </a:p>
        </p:txBody>
      </p:sp>
      <p:sp>
        <p:nvSpPr>
          <p:cNvPr id="371" name="Google Shape;371;p30"/>
          <p:cNvSpPr/>
          <p:nvPr/>
        </p:nvSpPr>
        <p:spPr>
          <a:xfrm>
            <a:off x="4489704" y="2468880"/>
            <a:ext cx="3337560" cy="2057400"/>
          </a:xfrm>
          <a:prstGeom prst="roundRect">
            <a:avLst>
              <a:gd name="adj" fmla="val 16667"/>
            </a:avLst>
          </a:prstGeom>
          <a:solidFill>
            <a:srgbClr val="A6C2B4"/>
          </a:solidFill>
          <a:ln w="22850" cap="flat" cmpd="sng">
            <a:solidFill>
              <a:srgbClr val="26432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2" name="Google Shape;372;p30" descr="check_forest_900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09160" y="268833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30"/>
          <p:cNvSpPr txBox="1"/>
          <p:nvPr/>
        </p:nvSpPr>
        <p:spPr>
          <a:xfrm>
            <a:off x="5349240" y="2670048"/>
            <a:ext cx="227685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374" name="Google Shape;374;p30"/>
          <p:cNvSpPr txBox="1"/>
          <p:nvPr/>
        </p:nvSpPr>
        <p:spPr>
          <a:xfrm>
            <a:off x="4745736" y="3246120"/>
            <a:ext cx="2825496" cy="1124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status</a:t>
            </a:r>
            <a:endParaRPr/>
          </a:p>
        </p:txBody>
      </p:sp>
      <p:sp>
        <p:nvSpPr>
          <p:cNvPr id="375" name="Google Shape;375;p30"/>
          <p:cNvSpPr/>
          <p:nvPr/>
        </p:nvSpPr>
        <p:spPr>
          <a:xfrm>
            <a:off x="8266175" y="2468880"/>
            <a:ext cx="3337560" cy="2057400"/>
          </a:xfrm>
          <a:prstGeom prst="roundRect">
            <a:avLst>
              <a:gd name="adj" fmla="val 16667"/>
            </a:avLst>
          </a:prstGeom>
          <a:solidFill>
            <a:srgbClr val="DEEAF4"/>
          </a:solidFill>
          <a:ln w="22850" cap="flat" cmpd="sng">
            <a:solidFill>
              <a:srgbClr val="2274B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6" name="Google Shape;376;p30" descr="upload_forest_900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85632" y="268833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30"/>
          <p:cNvSpPr txBox="1"/>
          <p:nvPr/>
        </p:nvSpPr>
        <p:spPr>
          <a:xfrm>
            <a:off x="9125711" y="2670048"/>
            <a:ext cx="227685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sp>
        <p:nvSpPr>
          <p:cNvPr id="378" name="Google Shape;378;p30"/>
          <p:cNvSpPr txBox="1"/>
          <p:nvPr/>
        </p:nvSpPr>
        <p:spPr>
          <a:xfrm>
            <a:off x="8522207" y="3246120"/>
            <a:ext cx="2825496" cy="1124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push</a:t>
            </a:r>
            <a:endParaRPr/>
          </a:p>
        </p:txBody>
      </p:sp>
      <p:pic>
        <p:nvPicPr>
          <p:cNvPr id="379" name="Google Shape;379;p30" descr="image1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814255" y="6400800"/>
            <a:ext cx="1806854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1"/>
          <p:cNvSpPr/>
          <p:nvPr/>
        </p:nvSpPr>
        <p:spPr>
          <a:xfrm>
            <a:off x="594360" y="347472"/>
            <a:ext cx="2194560" cy="384048"/>
          </a:xfrm>
          <a:prstGeom prst="roundRect">
            <a:avLst>
              <a:gd name="adj" fmla="val 16667"/>
            </a:avLst>
          </a:prstGeom>
          <a:solidFill>
            <a:srgbClr val="FECC5B"/>
          </a:solidFill>
          <a:ln w="13950" cap="flat" cmpd="sng">
            <a:solidFill>
              <a:srgbClr val="83671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1"/>
          <p:cNvSpPr txBox="1"/>
          <p:nvPr/>
        </p:nvSpPr>
        <p:spPr>
          <a:xfrm>
            <a:off x="640080" y="402336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ANSWER KEY</a:t>
            </a:r>
            <a:endParaRPr/>
          </a:p>
        </p:txBody>
      </p:sp>
      <p:sp>
        <p:nvSpPr>
          <p:cNvPr id="387" name="Google Shape;387;p31"/>
          <p:cNvSpPr txBox="1"/>
          <p:nvPr/>
        </p:nvSpPr>
        <p:spPr>
          <a:xfrm>
            <a:off x="594360" y="786384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When Stuck, Check Status</a:t>
            </a:r>
            <a:endParaRPr/>
          </a:p>
        </p:txBody>
      </p:sp>
      <p:pic>
        <p:nvPicPr>
          <p:cNvPr id="388" name="Google Shape;388;p31" descr="check_forest_900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07040" y="59436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31"/>
          <p:cNvSpPr txBox="1"/>
          <p:nvPr/>
        </p:nvSpPr>
        <p:spPr>
          <a:xfrm>
            <a:off x="594360" y="647395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&amp; GitHub  |  Module 0: Foundations</a:t>
            </a:r>
            <a:endParaRPr/>
          </a:p>
        </p:txBody>
      </p:sp>
      <p:sp>
        <p:nvSpPr>
          <p:cNvPr id="390" name="Google Shape;390;p31"/>
          <p:cNvSpPr/>
          <p:nvPr/>
        </p:nvSpPr>
        <p:spPr>
          <a:xfrm>
            <a:off x="868680" y="1828800"/>
            <a:ext cx="10378440" cy="2834640"/>
          </a:xfrm>
          <a:prstGeom prst="roundRect">
            <a:avLst>
              <a:gd name="adj" fmla="val 16667"/>
            </a:avLst>
          </a:prstGeom>
          <a:solidFill>
            <a:srgbClr val="A6C2B4"/>
          </a:solidFill>
          <a:ln w="25400" cap="flat" cmpd="sng">
            <a:solidFill>
              <a:srgbClr val="26432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1" name="Google Shape;391;p31" descr="check_forest_900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34440" y="233172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31"/>
          <p:cNvSpPr txBox="1"/>
          <p:nvPr/>
        </p:nvSpPr>
        <p:spPr>
          <a:xfrm>
            <a:off x="2057400" y="2267712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264326"/>
                </a:solidFill>
                <a:latin typeface="Arial"/>
                <a:ea typeface="Arial"/>
                <a:cs typeface="Arial"/>
                <a:sym typeface="Arial"/>
              </a:rPr>
              <a:t>git status</a:t>
            </a:r>
            <a:endParaRPr/>
          </a:p>
        </p:txBody>
      </p:sp>
      <p:sp>
        <p:nvSpPr>
          <p:cNvPr id="393" name="Google Shape;393;p31"/>
          <p:cNvSpPr txBox="1"/>
          <p:nvPr/>
        </p:nvSpPr>
        <p:spPr>
          <a:xfrm>
            <a:off x="2057400" y="2999232"/>
            <a:ext cx="85039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It’s safe to run and tells you the current state: staged files, unstaged changes, and what branch you’re on.</a:t>
            </a:r>
            <a:endParaRPr/>
          </a:p>
        </p:txBody>
      </p:sp>
      <p:pic>
        <p:nvPicPr>
          <p:cNvPr id="394" name="Google Shape;394;p31" descr="image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14255" y="6400800"/>
            <a:ext cx="1806854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2"/>
          <p:cNvSpPr/>
          <p:nvPr/>
        </p:nvSpPr>
        <p:spPr>
          <a:xfrm>
            <a:off x="594360" y="347472"/>
            <a:ext cx="2194560" cy="384048"/>
          </a:xfrm>
          <a:prstGeom prst="roundRect">
            <a:avLst>
              <a:gd name="adj" fmla="val 16667"/>
            </a:avLst>
          </a:prstGeom>
          <a:solidFill>
            <a:srgbClr val="FECC5B"/>
          </a:solidFill>
          <a:ln w="13950" cap="flat" cmpd="sng">
            <a:solidFill>
              <a:srgbClr val="83671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2"/>
          <p:cNvSpPr txBox="1"/>
          <p:nvPr/>
        </p:nvSpPr>
        <p:spPr>
          <a:xfrm>
            <a:off x="640080" y="402336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ADD TO THE BOARD</a:t>
            </a:r>
            <a:endParaRPr/>
          </a:p>
        </p:txBody>
      </p:sp>
      <p:sp>
        <p:nvSpPr>
          <p:cNvPr id="402" name="Google Shape;402;p32"/>
          <p:cNvSpPr txBox="1"/>
          <p:nvPr/>
        </p:nvSpPr>
        <p:spPr>
          <a:xfrm>
            <a:off x="594360" y="786384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Put the Git Steps in Order</a:t>
            </a:r>
            <a:endParaRPr/>
          </a:p>
        </p:txBody>
      </p:sp>
      <p:pic>
        <p:nvPicPr>
          <p:cNvPr id="403" name="Google Shape;403;p32" descr="task_list_forest_900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07040" y="59436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2"/>
          <p:cNvSpPr txBox="1"/>
          <p:nvPr/>
        </p:nvSpPr>
        <p:spPr>
          <a:xfrm>
            <a:off x="594360" y="647395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&amp; GitHub  |  Module 0: Foundations</a:t>
            </a:r>
            <a:endParaRPr/>
          </a:p>
        </p:txBody>
      </p:sp>
      <p:sp>
        <p:nvSpPr>
          <p:cNvPr id="405" name="Google Shape;405;p32"/>
          <p:cNvSpPr/>
          <p:nvPr/>
        </p:nvSpPr>
        <p:spPr>
          <a:xfrm>
            <a:off x="685800" y="1874519"/>
            <a:ext cx="2514600" cy="2194560"/>
          </a:xfrm>
          <a:prstGeom prst="roundRect">
            <a:avLst>
              <a:gd name="adj" fmla="val 16667"/>
            </a:avLst>
          </a:prstGeom>
          <a:solidFill>
            <a:srgbClr val="DEEAF4"/>
          </a:solidFill>
          <a:ln w="22850" cap="flat" cmpd="sng">
            <a:solidFill>
              <a:srgbClr val="2274B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6" name="Google Shape;406;p32" descr="cloud_upload_gold_700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5256" y="209397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32"/>
          <p:cNvSpPr txBox="1"/>
          <p:nvPr/>
        </p:nvSpPr>
        <p:spPr>
          <a:xfrm>
            <a:off x="1545336" y="2075688"/>
            <a:ext cx="145389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408" name="Google Shape;408;p32"/>
          <p:cNvSpPr txBox="1"/>
          <p:nvPr/>
        </p:nvSpPr>
        <p:spPr>
          <a:xfrm>
            <a:off x="941832" y="2651760"/>
            <a:ext cx="2002536" cy="1261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push</a:t>
            </a:r>
            <a:endParaRPr/>
          </a:p>
        </p:txBody>
      </p:sp>
      <p:sp>
        <p:nvSpPr>
          <p:cNvPr id="409" name="Google Shape;409;p32"/>
          <p:cNvSpPr/>
          <p:nvPr/>
        </p:nvSpPr>
        <p:spPr>
          <a:xfrm>
            <a:off x="3547872" y="1874519"/>
            <a:ext cx="2514600" cy="2194560"/>
          </a:xfrm>
          <a:prstGeom prst="roundRect">
            <a:avLst>
              <a:gd name="adj" fmla="val 16667"/>
            </a:avLst>
          </a:prstGeom>
          <a:solidFill>
            <a:srgbClr val="FECC5B"/>
          </a:solidFill>
          <a:ln w="22850" cap="flat" cmpd="sng">
            <a:solidFill>
              <a:srgbClr val="83671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0" name="Google Shape;410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67328" y="209397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32"/>
          <p:cNvSpPr txBox="1"/>
          <p:nvPr/>
        </p:nvSpPr>
        <p:spPr>
          <a:xfrm>
            <a:off x="4407408" y="2075688"/>
            <a:ext cx="1453895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412" name="Google Shape;412;p32"/>
          <p:cNvSpPr txBox="1"/>
          <p:nvPr/>
        </p:nvSpPr>
        <p:spPr>
          <a:xfrm>
            <a:off x="3803904" y="2651760"/>
            <a:ext cx="2002536" cy="1261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commit</a:t>
            </a:r>
            <a:endParaRPr/>
          </a:p>
        </p:txBody>
      </p:sp>
      <p:sp>
        <p:nvSpPr>
          <p:cNvPr id="413" name="Google Shape;413;p32"/>
          <p:cNvSpPr/>
          <p:nvPr/>
        </p:nvSpPr>
        <p:spPr>
          <a:xfrm>
            <a:off x="6409944" y="1874519"/>
            <a:ext cx="2514600" cy="2194560"/>
          </a:xfrm>
          <a:prstGeom prst="roundRect">
            <a:avLst>
              <a:gd name="adj" fmla="val 16667"/>
            </a:avLst>
          </a:prstGeom>
          <a:solidFill>
            <a:srgbClr val="A6C2B4"/>
          </a:solidFill>
          <a:ln w="22850" cap="flat" cmpd="sng">
            <a:solidFill>
              <a:srgbClr val="26432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4" name="Google Shape;414;p32" descr="file_blue_700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29400" y="209397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32"/>
          <p:cNvSpPr txBox="1"/>
          <p:nvPr/>
        </p:nvSpPr>
        <p:spPr>
          <a:xfrm>
            <a:off x="7269479" y="2075688"/>
            <a:ext cx="145389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sp>
        <p:nvSpPr>
          <p:cNvPr id="416" name="Google Shape;416;p32"/>
          <p:cNvSpPr txBox="1"/>
          <p:nvPr/>
        </p:nvSpPr>
        <p:spPr>
          <a:xfrm>
            <a:off x="6665976" y="2651760"/>
            <a:ext cx="2002536" cy="1261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add</a:t>
            </a:r>
            <a:endParaRPr/>
          </a:p>
        </p:txBody>
      </p:sp>
      <p:sp>
        <p:nvSpPr>
          <p:cNvPr id="417" name="Google Shape;417;p32"/>
          <p:cNvSpPr/>
          <p:nvPr/>
        </p:nvSpPr>
        <p:spPr>
          <a:xfrm>
            <a:off x="9272016" y="1874519"/>
            <a:ext cx="2514600" cy="2194560"/>
          </a:xfrm>
          <a:prstGeom prst="roundRect">
            <a:avLst>
              <a:gd name="adj" fmla="val 16667"/>
            </a:avLst>
          </a:prstGeom>
          <a:solidFill>
            <a:srgbClr val="FFF6E4"/>
          </a:solidFill>
          <a:ln w="22850" cap="flat" cmpd="sng">
            <a:solidFill>
              <a:srgbClr val="26432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8" name="Google Shape;418;p3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491472" y="209397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2"/>
          <p:cNvSpPr txBox="1"/>
          <p:nvPr/>
        </p:nvSpPr>
        <p:spPr>
          <a:xfrm>
            <a:off x="10131552" y="2075688"/>
            <a:ext cx="145389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sp>
        <p:nvSpPr>
          <p:cNvPr id="420" name="Google Shape;420;p32"/>
          <p:cNvSpPr txBox="1"/>
          <p:nvPr/>
        </p:nvSpPr>
        <p:spPr>
          <a:xfrm>
            <a:off x="9528048" y="2651760"/>
            <a:ext cx="2002536" cy="1261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init</a:t>
            </a:r>
            <a:endParaRPr/>
          </a:p>
        </p:txBody>
      </p:sp>
      <p:sp>
        <p:nvSpPr>
          <p:cNvPr id="421" name="Google Shape;421;p32"/>
          <p:cNvSpPr txBox="1"/>
          <p:nvPr/>
        </p:nvSpPr>
        <p:spPr>
          <a:xfrm>
            <a:off x="822960" y="470916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Post them in the order you’d actually run them.</a:t>
            </a:r>
            <a:endParaRPr/>
          </a:p>
        </p:txBody>
      </p:sp>
      <p:pic>
        <p:nvPicPr>
          <p:cNvPr id="422" name="Google Shape;422;p32" descr="image1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814255" y="6400800"/>
            <a:ext cx="1806854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3"/>
          <p:cNvSpPr/>
          <p:nvPr/>
        </p:nvSpPr>
        <p:spPr>
          <a:xfrm>
            <a:off x="594350" y="347476"/>
            <a:ext cx="2194500" cy="502800"/>
          </a:xfrm>
          <a:prstGeom prst="roundRect">
            <a:avLst>
              <a:gd name="adj" fmla="val 16667"/>
            </a:avLst>
          </a:prstGeom>
          <a:solidFill>
            <a:srgbClr val="FECC5B"/>
          </a:solidFill>
          <a:ln w="13950" cap="flat" cmpd="sng">
            <a:solidFill>
              <a:srgbClr val="83671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3"/>
          <p:cNvSpPr txBox="1"/>
          <p:nvPr/>
        </p:nvSpPr>
        <p:spPr>
          <a:xfrm>
            <a:off x="640080" y="402336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CHECK FOR UNDERSTANDING</a:t>
            </a:r>
            <a:endParaRPr/>
          </a:p>
        </p:txBody>
      </p:sp>
      <p:sp>
        <p:nvSpPr>
          <p:cNvPr id="430" name="Google Shape;430;p33"/>
          <p:cNvSpPr txBox="1"/>
          <p:nvPr/>
        </p:nvSpPr>
        <p:spPr>
          <a:xfrm>
            <a:off x="594360" y="786384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Rewrite this commit message: "update"</a:t>
            </a:r>
            <a:endParaRPr/>
          </a:p>
        </p:txBody>
      </p:sp>
      <p:pic>
        <p:nvPicPr>
          <p:cNvPr id="431" name="Google Shape;431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07040" y="59436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33"/>
          <p:cNvSpPr txBox="1"/>
          <p:nvPr/>
        </p:nvSpPr>
        <p:spPr>
          <a:xfrm>
            <a:off x="594360" y="647395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&amp; GitHub  |  Module 0: Foundations</a:t>
            </a:r>
            <a:endParaRPr/>
          </a:p>
        </p:txBody>
      </p:sp>
      <p:sp>
        <p:nvSpPr>
          <p:cNvPr id="433" name="Google Shape;433;p33"/>
          <p:cNvSpPr/>
          <p:nvPr/>
        </p:nvSpPr>
        <p:spPr>
          <a:xfrm>
            <a:off x="685800" y="1965960"/>
            <a:ext cx="3063240" cy="2331720"/>
          </a:xfrm>
          <a:prstGeom prst="roundRect">
            <a:avLst>
              <a:gd name="adj" fmla="val 16667"/>
            </a:avLst>
          </a:prstGeom>
          <a:solidFill>
            <a:srgbClr val="F7DFDF"/>
          </a:solidFill>
          <a:ln w="22850" cap="flat" cmpd="sng">
            <a:solidFill>
              <a:srgbClr val="C92929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4" name="Google Shape;434;p33" descr="error_red_700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5256" y="2185415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3"/>
          <p:cNvSpPr txBox="1"/>
          <p:nvPr/>
        </p:nvSpPr>
        <p:spPr>
          <a:xfrm>
            <a:off x="1545336" y="2167128"/>
            <a:ext cx="200253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436" name="Google Shape;436;p33"/>
          <p:cNvSpPr txBox="1"/>
          <p:nvPr/>
        </p:nvSpPr>
        <p:spPr>
          <a:xfrm>
            <a:off x="941832" y="2743200"/>
            <a:ext cx="2551176" cy="1399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"stuff"</a:t>
            </a:r>
            <a:endParaRPr/>
          </a:p>
        </p:txBody>
      </p:sp>
      <p:sp>
        <p:nvSpPr>
          <p:cNvPr id="437" name="Google Shape;437;p33"/>
          <p:cNvSpPr/>
          <p:nvPr/>
        </p:nvSpPr>
        <p:spPr>
          <a:xfrm>
            <a:off x="4160520" y="1965960"/>
            <a:ext cx="3291840" cy="2331720"/>
          </a:xfrm>
          <a:prstGeom prst="roundRect">
            <a:avLst>
              <a:gd name="adj" fmla="val 16667"/>
            </a:avLst>
          </a:prstGeom>
          <a:solidFill>
            <a:srgbClr val="FECC5B"/>
          </a:solidFill>
          <a:ln w="22850" cap="flat" cmpd="sng">
            <a:solidFill>
              <a:srgbClr val="83671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8" name="Google Shape;438;p33" descr="error_red_700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79976" y="2185415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3"/>
          <p:cNvSpPr txBox="1"/>
          <p:nvPr/>
        </p:nvSpPr>
        <p:spPr>
          <a:xfrm>
            <a:off x="5020056" y="2167128"/>
            <a:ext cx="2231135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440" name="Google Shape;440;p33"/>
          <p:cNvSpPr txBox="1"/>
          <p:nvPr/>
        </p:nvSpPr>
        <p:spPr>
          <a:xfrm>
            <a:off x="4416552" y="2743200"/>
            <a:ext cx="2779776" cy="1399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"final update 2"</a:t>
            </a:r>
            <a:endParaRPr/>
          </a:p>
        </p:txBody>
      </p:sp>
      <p:sp>
        <p:nvSpPr>
          <p:cNvPr id="441" name="Google Shape;441;p33"/>
          <p:cNvSpPr/>
          <p:nvPr/>
        </p:nvSpPr>
        <p:spPr>
          <a:xfrm>
            <a:off x="7818120" y="1965960"/>
            <a:ext cx="4160520" cy="2331720"/>
          </a:xfrm>
          <a:prstGeom prst="roundRect">
            <a:avLst>
              <a:gd name="adj" fmla="val 16667"/>
            </a:avLst>
          </a:prstGeom>
          <a:solidFill>
            <a:srgbClr val="A6C2B4"/>
          </a:solidFill>
          <a:ln w="22850" cap="flat" cmpd="sng">
            <a:solidFill>
              <a:srgbClr val="26432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2" name="Google Shape;442;p33" descr="check_forest_900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37576" y="2185415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33"/>
          <p:cNvSpPr txBox="1"/>
          <p:nvPr/>
        </p:nvSpPr>
        <p:spPr>
          <a:xfrm>
            <a:off x="8677656" y="2167128"/>
            <a:ext cx="309981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sp>
        <p:nvSpPr>
          <p:cNvPr id="444" name="Google Shape;444;p33"/>
          <p:cNvSpPr txBox="1"/>
          <p:nvPr/>
        </p:nvSpPr>
        <p:spPr>
          <a:xfrm>
            <a:off x="8074152" y="2743200"/>
            <a:ext cx="3648456" cy="1399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"Fix typo in README installation steps"</a:t>
            </a:r>
            <a:endParaRPr/>
          </a:p>
        </p:txBody>
      </p:sp>
      <p:pic>
        <p:nvPicPr>
          <p:cNvPr id="445" name="Google Shape;445;p33" descr="image1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814255" y="6400800"/>
            <a:ext cx="1806854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4"/>
          <p:cNvSpPr/>
          <p:nvPr/>
        </p:nvSpPr>
        <p:spPr>
          <a:xfrm>
            <a:off x="594360" y="347472"/>
            <a:ext cx="2194560" cy="384048"/>
          </a:xfrm>
          <a:prstGeom prst="roundRect">
            <a:avLst>
              <a:gd name="adj" fmla="val 16667"/>
            </a:avLst>
          </a:prstGeom>
          <a:solidFill>
            <a:srgbClr val="FECC5B"/>
          </a:solidFill>
          <a:ln w="13950" cap="flat" cmpd="sng">
            <a:solidFill>
              <a:srgbClr val="83671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34"/>
          <p:cNvSpPr txBox="1"/>
          <p:nvPr/>
        </p:nvSpPr>
        <p:spPr>
          <a:xfrm>
            <a:off x="640080" y="402336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ANSWER KEY</a:t>
            </a:r>
            <a:endParaRPr/>
          </a:p>
        </p:txBody>
      </p:sp>
      <p:sp>
        <p:nvSpPr>
          <p:cNvPr id="453" name="Google Shape;453;p34"/>
          <p:cNvSpPr txBox="1"/>
          <p:nvPr/>
        </p:nvSpPr>
        <p:spPr>
          <a:xfrm>
            <a:off x="594360" y="786384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Rewrite a Bad Commit Message</a:t>
            </a:r>
            <a:endParaRPr/>
          </a:p>
        </p:txBody>
      </p:sp>
      <p:pic>
        <p:nvPicPr>
          <p:cNvPr id="454" name="Google Shape;454;p34" descr="check_forest_900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07040" y="59436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4"/>
          <p:cNvSpPr txBox="1"/>
          <p:nvPr/>
        </p:nvSpPr>
        <p:spPr>
          <a:xfrm>
            <a:off x="594360" y="647395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&amp; GitHub  |  Module 0: Foundations</a:t>
            </a:r>
            <a:endParaRPr/>
          </a:p>
        </p:txBody>
      </p:sp>
      <p:sp>
        <p:nvSpPr>
          <p:cNvPr id="456" name="Google Shape;456;p34"/>
          <p:cNvSpPr/>
          <p:nvPr/>
        </p:nvSpPr>
        <p:spPr>
          <a:xfrm>
            <a:off x="822960" y="1828800"/>
            <a:ext cx="10561320" cy="2743200"/>
          </a:xfrm>
          <a:prstGeom prst="roundRect">
            <a:avLst>
              <a:gd name="adj" fmla="val 16667"/>
            </a:avLst>
          </a:prstGeom>
          <a:solidFill>
            <a:srgbClr val="A6C2B4"/>
          </a:solidFill>
          <a:ln w="25400" cap="flat" cmpd="sng">
            <a:solidFill>
              <a:srgbClr val="26432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34"/>
          <p:cNvSpPr txBox="1"/>
          <p:nvPr/>
        </p:nvSpPr>
        <p:spPr>
          <a:xfrm>
            <a:off x="1143000" y="2194560"/>
            <a:ext cx="9921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264326"/>
                </a:solidFill>
                <a:latin typeface="Arial"/>
                <a:ea typeface="Arial"/>
                <a:cs typeface="Arial"/>
                <a:sym typeface="Arial"/>
              </a:rPr>
              <a:t>"Fix typo in README installation steps"</a:t>
            </a:r>
            <a:endParaRPr/>
          </a:p>
        </p:txBody>
      </p:sp>
      <p:sp>
        <p:nvSpPr>
          <p:cNvPr id="458" name="Google Shape;458;p34"/>
          <p:cNvSpPr txBox="1"/>
          <p:nvPr/>
        </p:nvSpPr>
        <p:spPr>
          <a:xfrm>
            <a:off x="1325880" y="3063240"/>
            <a:ext cx="95554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A good message names the specific what. Someone reading the log later should understand the change without opening the diff.</a:t>
            </a:r>
            <a:endParaRPr/>
          </a:p>
        </p:txBody>
      </p:sp>
      <p:pic>
        <p:nvPicPr>
          <p:cNvPr id="459" name="Google Shape;459;p34" descr="image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14255" y="6400800"/>
            <a:ext cx="1806854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5"/>
          <p:cNvSpPr txBox="1"/>
          <p:nvPr/>
        </p:nvSpPr>
        <p:spPr>
          <a:xfrm>
            <a:off x="594360" y="786384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Key Terms — Recap</a:t>
            </a:r>
            <a:endParaRPr/>
          </a:p>
        </p:txBody>
      </p:sp>
      <p:pic>
        <p:nvPicPr>
          <p:cNvPr id="466" name="Google Shape;466;p35" descr="menu_book_gold_700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07040" y="59436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35"/>
          <p:cNvSpPr txBox="1"/>
          <p:nvPr/>
        </p:nvSpPr>
        <p:spPr>
          <a:xfrm>
            <a:off x="594360" y="647395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&amp; GitHub  |  Module 0: Foundations</a:t>
            </a:r>
            <a:endParaRPr/>
          </a:p>
        </p:txBody>
      </p:sp>
      <p:sp>
        <p:nvSpPr>
          <p:cNvPr id="468" name="Google Shape;468;p35"/>
          <p:cNvSpPr/>
          <p:nvPr/>
        </p:nvSpPr>
        <p:spPr>
          <a:xfrm>
            <a:off x="777240" y="1737360"/>
            <a:ext cx="10561320" cy="1060704"/>
          </a:xfrm>
          <a:prstGeom prst="roundRect">
            <a:avLst>
              <a:gd name="adj" fmla="val 16667"/>
            </a:avLst>
          </a:prstGeom>
          <a:solidFill>
            <a:srgbClr val="A6C2B4"/>
          </a:solidFill>
          <a:ln w="22850" cap="flat" cmpd="sng">
            <a:solidFill>
              <a:srgbClr val="26432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5"/>
          <p:cNvSpPr txBox="1"/>
          <p:nvPr/>
        </p:nvSpPr>
        <p:spPr>
          <a:xfrm>
            <a:off x="1078992" y="2002536"/>
            <a:ext cx="2240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Repository</a:t>
            </a:r>
            <a:endParaRPr/>
          </a:p>
        </p:txBody>
      </p:sp>
      <p:sp>
        <p:nvSpPr>
          <p:cNvPr id="470" name="Google Shape;470;p35"/>
          <p:cNvSpPr txBox="1"/>
          <p:nvPr/>
        </p:nvSpPr>
        <p:spPr>
          <a:xfrm>
            <a:off x="3520440" y="1956815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A project folder git is tracking the history of</a:t>
            </a:r>
            <a:endParaRPr/>
          </a:p>
        </p:txBody>
      </p:sp>
      <p:sp>
        <p:nvSpPr>
          <p:cNvPr id="471" name="Google Shape;471;p35"/>
          <p:cNvSpPr/>
          <p:nvPr/>
        </p:nvSpPr>
        <p:spPr>
          <a:xfrm>
            <a:off x="777240" y="3090672"/>
            <a:ext cx="10561320" cy="1060704"/>
          </a:xfrm>
          <a:prstGeom prst="roundRect">
            <a:avLst>
              <a:gd name="adj" fmla="val 16667"/>
            </a:avLst>
          </a:prstGeom>
          <a:solidFill>
            <a:srgbClr val="DEEAF4"/>
          </a:solidFill>
          <a:ln w="22850" cap="flat" cmpd="sng">
            <a:solidFill>
              <a:srgbClr val="2274B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35"/>
          <p:cNvSpPr txBox="1"/>
          <p:nvPr/>
        </p:nvSpPr>
        <p:spPr>
          <a:xfrm>
            <a:off x="1078992" y="3355848"/>
            <a:ext cx="2240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Commit</a:t>
            </a:r>
            <a:endParaRPr/>
          </a:p>
        </p:txBody>
      </p:sp>
      <p:sp>
        <p:nvSpPr>
          <p:cNvPr id="473" name="Google Shape;473;p35"/>
          <p:cNvSpPr txBox="1"/>
          <p:nvPr/>
        </p:nvSpPr>
        <p:spPr>
          <a:xfrm>
            <a:off x="3520440" y="3310128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A saved snapshot of your project at one point in time</a:t>
            </a:r>
            <a:endParaRPr/>
          </a:p>
        </p:txBody>
      </p:sp>
      <p:sp>
        <p:nvSpPr>
          <p:cNvPr id="474" name="Google Shape;474;p35"/>
          <p:cNvSpPr/>
          <p:nvPr/>
        </p:nvSpPr>
        <p:spPr>
          <a:xfrm>
            <a:off x="777240" y="4443983"/>
            <a:ext cx="10561320" cy="1060704"/>
          </a:xfrm>
          <a:prstGeom prst="roundRect">
            <a:avLst>
              <a:gd name="adj" fmla="val 16667"/>
            </a:avLst>
          </a:prstGeom>
          <a:solidFill>
            <a:srgbClr val="FECC5B"/>
          </a:solidFill>
          <a:ln w="22850" cap="flat" cmpd="sng">
            <a:solidFill>
              <a:srgbClr val="83671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35"/>
          <p:cNvSpPr txBox="1"/>
          <p:nvPr/>
        </p:nvSpPr>
        <p:spPr>
          <a:xfrm>
            <a:off x="1078992" y="4709159"/>
            <a:ext cx="2240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Remote</a:t>
            </a:r>
            <a:endParaRPr/>
          </a:p>
        </p:txBody>
      </p:sp>
      <p:sp>
        <p:nvSpPr>
          <p:cNvPr id="476" name="Google Shape;476;p35"/>
          <p:cNvSpPr txBox="1"/>
          <p:nvPr/>
        </p:nvSpPr>
        <p:spPr>
          <a:xfrm>
            <a:off x="3520440" y="466344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A copy of your repository hosted somewhere else, like GitHub</a:t>
            </a:r>
            <a:endParaRPr/>
          </a:p>
        </p:txBody>
      </p:sp>
      <p:pic>
        <p:nvPicPr>
          <p:cNvPr id="477" name="Google Shape;477;p35" descr="image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14255" y="6400800"/>
            <a:ext cx="1806854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6"/>
          <p:cNvSpPr txBox="1"/>
          <p:nvPr/>
        </p:nvSpPr>
        <p:spPr>
          <a:xfrm>
            <a:off x="594360" y="786384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What You Have Now</a:t>
            </a:r>
            <a:endParaRPr/>
          </a:p>
        </p:txBody>
      </p:sp>
      <p:pic>
        <p:nvPicPr>
          <p:cNvPr id="484" name="Google Shape;484;p36" descr="yes_forest_900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07040" y="59436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36"/>
          <p:cNvSpPr txBox="1"/>
          <p:nvPr/>
        </p:nvSpPr>
        <p:spPr>
          <a:xfrm>
            <a:off x="594360" y="647395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&amp; GitHub  |  Module 0: Foundations</a:t>
            </a:r>
            <a:endParaRPr/>
          </a:p>
        </p:txBody>
      </p:sp>
      <p:sp>
        <p:nvSpPr>
          <p:cNvPr id="486" name="Google Shape;486;p36"/>
          <p:cNvSpPr/>
          <p:nvPr/>
        </p:nvSpPr>
        <p:spPr>
          <a:xfrm>
            <a:off x="713232" y="1874519"/>
            <a:ext cx="3337560" cy="2514600"/>
          </a:xfrm>
          <a:prstGeom prst="roundRect">
            <a:avLst>
              <a:gd name="adj" fmla="val 16667"/>
            </a:avLst>
          </a:prstGeom>
          <a:solidFill>
            <a:srgbClr val="A6C2B4"/>
          </a:solidFill>
          <a:ln w="22850" cap="flat" cmpd="sng">
            <a:solidFill>
              <a:srgbClr val="26432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7" name="Google Shape;487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2688" y="209397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36"/>
          <p:cNvSpPr txBox="1"/>
          <p:nvPr/>
        </p:nvSpPr>
        <p:spPr>
          <a:xfrm>
            <a:off x="1572768" y="2075688"/>
            <a:ext cx="227685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A real local repo</a:t>
            </a:r>
            <a:endParaRPr/>
          </a:p>
        </p:txBody>
      </p:sp>
      <p:sp>
        <p:nvSpPr>
          <p:cNvPr id="489" name="Google Shape;489;p36"/>
          <p:cNvSpPr txBox="1"/>
          <p:nvPr/>
        </p:nvSpPr>
        <p:spPr>
          <a:xfrm>
            <a:off x="969364" y="2789610"/>
            <a:ext cx="2825400" cy="4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with real commits</a:t>
            </a:r>
            <a:endParaRPr/>
          </a:p>
        </p:txBody>
      </p:sp>
      <p:sp>
        <p:nvSpPr>
          <p:cNvPr id="490" name="Google Shape;490;p36"/>
          <p:cNvSpPr/>
          <p:nvPr/>
        </p:nvSpPr>
        <p:spPr>
          <a:xfrm>
            <a:off x="4489704" y="1874519"/>
            <a:ext cx="3337560" cy="2514600"/>
          </a:xfrm>
          <a:prstGeom prst="roundRect">
            <a:avLst>
              <a:gd name="adj" fmla="val 16667"/>
            </a:avLst>
          </a:prstGeom>
          <a:solidFill>
            <a:srgbClr val="DEEAF4"/>
          </a:solidFill>
          <a:ln w="22850" cap="flat" cmpd="sng">
            <a:solidFill>
              <a:srgbClr val="2274B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1" name="Google Shape;491;p36" descr="github_forest_900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09160" y="209397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36"/>
          <p:cNvSpPr txBox="1"/>
          <p:nvPr/>
        </p:nvSpPr>
        <p:spPr>
          <a:xfrm>
            <a:off x="5349240" y="2075688"/>
            <a:ext cx="227685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That repo</a:t>
            </a:r>
            <a:endParaRPr/>
          </a:p>
        </p:txBody>
      </p:sp>
      <p:sp>
        <p:nvSpPr>
          <p:cNvPr id="493" name="Google Shape;493;p36"/>
          <p:cNvSpPr txBox="1"/>
          <p:nvPr/>
        </p:nvSpPr>
        <p:spPr>
          <a:xfrm>
            <a:off x="4745736" y="2651760"/>
            <a:ext cx="2825496" cy="1581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pushed to GitHub</a:t>
            </a:r>
            <a:endParaRPr/>
          </a:p>
        </p:txBody>
      </p:sp>
      <p:sp>
        <p:nvSpPr>
          <p:cNvPr id="494" name="Google Shape;494;p36"/>
          <p:cNvSpPr/>
          <p:nvPr/>
        </p:nvSpPr>
        <p:spPr>
          <a:xfrm>
            <a:off x="8266175" y="1874519"/>
            <a:ext cx="3337560" cy="2514600"/>
          </a:xfrm>
          <a:prstGeom prst="roundRect">
            <a:avLst>
              <a:gd name="adj" fmla="val 16667"/>
            </a:avLst>
          </a:prstGeom>
          <a:solidFill>
            <a:srgbClr val="FECC5B"/>
          </a:solidFill>
          <a:ln w="22850" cap="flat" cmpd="sng">
            <a:solidFill>
              <a:srgbClr val="83671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5" name="Google Shape;495;p36" descr="check_forest_900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85632" y="209397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36"/>
          <p:cNvSpPr txBox="1"/>
          <p:nvPr/>
        </p:nvSpPr>
        <p:spPr>
          <a:xfrm>
            <a:off x="9125711" y="2075688"/>
            <a:ext cx="227685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The habit</a:t>
            </a:r>
            <a:endParaRPr/>
          </a:p>
        </p:txBody>
      </p:sp>
      <p:sp>
        <p:nvSpPr>
          <p:cNvPr id="497" name="Google Shape;497;p36"/>
          <p:cNvSpPr txBox="1"/>
          <p:nvPr/>
        </p:nvSpPr>
        <p:spPr>
          <a:xfrm>
            <a:off x="8522207" y="2651760"/>
            <a:ext cx="2825496" cy="1581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of checking git status often</a:t>
            </a:r>
            <a:endParaRPr/>
          </a:p>
        </p:txBody>
      </p:sp>
      <p:pic>
        <p:nvPicPr>
          <p:cNvPr id="498" name="Google Shape;498;p36" descr="image1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814255" y="6400800"/>
            <a:ext cx="1806854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7"/>
          <p:cNvSpPr txBox="1"/>
          <p:nvPr/>
        </p:nvSpPr>
        <p:spPr>
          <a:xfrm>
            <a:off x="594360" y="786384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Before Next Class</a:t>
            </a:r>
            <a:endParaRPr/>
          </a:p>
        </p:txBody>
      </p:sp>
      <p:pic>
        <p:nvPicPr>
          <p:cNvPr id="505" name="Google Shape;505;p37" descr="task_list_forest_900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07040" y="59436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37"/>
          <p:cNvSpPr txBox="1"/>
          <p:nvPr/>
        </p:nvSpPr>
        <p:spPr>
          <a:xfrm>
            <a:off x="594360" y="647395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&amp; GitHub  |  Module 0: Foundations</a:t>
            </a:r>
            <a:endParaRPr/>
          </a:p>
        </p:txBody>
      </p:sp>
      <p:sp>
        <p:nvSpPr>
          <p:cNvPr id="507" name="Google Shape;507;p37"/>
          <p:cNvSpPr/>
          <p:nvPr/>
        </p:nvSpPr>
        <p:spPr>
          <a:xfrm>
            <a:off x="822960" y="1874519"/>
            <a:ext cx="3291840" cy="2514600"/>
          </a:xfrm>
          <a:prstGeom prst="roundRect">
            <a:avLst>
              <a:gd name="adj" fmla="val 16667"/>
            </a:avLst>
          </a:prstGeom>
          <a:solidFill>
            <a:srgbClr val="A6C2B4"/>
          </a:solidFill>
          <a:ln w="22850" cap="flat" cmpd="sng">
            <a:solidFill>
              <a:srgbClr val="26432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8" name="Google Shape;508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2416" y="209397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37"/>
          <p:cNvSpPr txBox="1"/>
          <p:nvPr/>
        </p:nvSpPr>
        <p:spPr>
          <a:xfrm>
            <a:off x="1682495" y="2075688"/>
            <a:ext cx="223113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Keep</a:t>
            </a:r>
            <a:endParaRPr/>
          </a:p>
        </p:txBody>
      </p:sp>
      <p:sp>
        <p:nvSpPr>
          <p:cNvPr id="510" name="Google Shape;510;p37"/>
          <p:cNvSpPr txBox="1"/>
          <p:nvPr/>
        </p:nvSpPr>
        <p:spPr>
          <a:xfrm>
            <a:off x="1078992" y="2651760"/>
            <a:ext cx="2779776" cy="1581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your practice repo around</a:t>
            </a:r>
            <a:endParaRPr/>
          </a:p>
        </p:txBody>
      </p:sp>
      <p:sp>
        <p:nvSpPr>
          <p:cNvPr id="511" name="Google Shape;511;p37"/>
          <p:cNvSpPr/>
          <p:nvPr/>
        </p:nvSpPr>
        <p:spPr>
          <a:xfrm>
            <a:off x="4480560" y="1874519"/>
            <a:ext cx="3383280" cy="2514600"/>
          </a:xfrm>
          <a:prstGeom prst="roundRect">
            <a:avLst>
              <a:gd name="adj" fmla="val 16667"/>
            </a:avLst>
          </a:prstGeom>
          <a:solidFill>
            <a:srgbClr val="DEEAF4"/>
          </a:solidFill>
          <a:ln w="22850" cap="flat" cmpd="sng">
            <a:solidFill>
              <a:srgbClr val="2274B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2" name="Google Shape;512;p37" descr="terminal_forest_900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00016" y="209397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37"/>
          <p:cNvSpPr txBox="1"/>
          <p:nvPr/>
        </p:nvSpPr>
        <p:spPr>
          <a:xfrm>
            <a:off x="5340096" y="2075688"/>
            <a:ext cx="232257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Next class</a:t>
            </a:r>
            <a:endParaRPr/>
          </a:p>
        </p:txBody>
      </p:sp>
      <p:sp>
        <p:nvSpPr>
          <p:cNvPr id="514" name="Google Shape;514;p37"/>
          <p:cNvSpPr txBox="1"/>
          <p:nvPr/>
        </p:nvSpPr>
        <p:spPr>
          <a:xfrm>
            <a:off x="4736592" y="2651760"/>
            <a:ext cx="2871216" cy="1581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Same sequence, on your own</a:t>
            </a:r>
            <a:endParaRPr/>
          </a:p>
        </p:txBody>
      </p:sp>
      <p:sp>
        <p:nvSpPr>
          <p:cNvPr id="515" name="Google Shape;515;p37"/>
          <p:cNvSpPr/>
          <p:nvPr/>
        </p:nvSpPr>
        <p:spPr>
          <a:xfrm>
            <a:off x="8183879" y="1874519"/>
            <a:ext cx="3063240" cy="2514600"/>
          </a:xfrm>
          <a:prstGeom prst="roundRect">
            <a:avLst>
              <a:gd name="adj" fmla="val 16667"/>
            </a:avLst>
          </a:prstGeom>
          <a:solidFill>
            <a:srgbClr val="FECC5B"/>
          </a:solidFill>
          <a:ln w="22850" cap="flat" cmpd="sng">
            <a:solidFill>
              <a:srgbClr val="83671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6" name="Google Shape;516;p37" descr="task_list_forest_900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03336" y="209397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37"/>
          <p:cNvSpPr txBox="1"/>
          <p:nvPr/>
        </p:nvSpPr>
        <p:spPr>
          <a:xfrm>
            <a:off x="9043415" y="2075688"/>
            <a:ext cx="200253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Lab</a:t>
            </a:r>
            <a:endParaRPr/>
          </a:p>
        </p:txBody>
      </p:sp>
      <p:sp>
        <p:nvSpPr>
          <p:cNvPr id="518" name="Google Shape;518;p37"/>
          <p:cNvSpPr txBox="1"/>
          <p:nvPr/>
        </p:nvSpPr>
        <p:spPr>
          <a:xfrm>
            <a:off x="8439911" y="2651760"/>
            <a:ext cx="2551176" cy="1581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&amp; Terminal Practice</a:t>
            </a:r>
            <a:endParaRPr/>
          </a:p>
        </p:txBody>
      </p:sp>
      <p:pic>
        <p:nvPicPr>
          <p:cNvPr id="519" name="Google Shape;519;p37" descr="image1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814255" y="6400800"/>
            <a:ext cx="1806854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8"/>
          <p:cNvSpPr/>
          <p:nvPr/>
        </p:nvSpPr>
        <p:spPr>
          <a:xfrm>
            <a:off x="594360" y="347472"/>
            <a:ext cx="2194560" cy="384048"/>
          </a:xfrm>
          <a:prstGeom prst="roundRect">
            <a:avLst>
              <a:gd name="adj" fmla="val 16667"/>
            </a:avLst>
          </a:prstGeom>
          <a:solidFill>
            <a:srgbClr val="FECC5B"/>
          </a:solidFill>
          <a:ln w="13950" cap="flat" cmpd="sng">
            <a:solidFill>
              <a:srgbClr val="83671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38"/>
          <p:cNvSpPr txBox="1"/>
          <p:nvPr/>
        </p:nvSpPr>
        <p:spPr>
          <a:xfrm>
            <a:off x="640080" y="402336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KEEP LEARNING</a:t>
            </a:r>
            <a:endParaRPr/>
          </a:p>
        </p:txBody>
      </p:sp>
      <p:sp>
        <p:nvSpPr>
          <p:cNvPr id="527" name="Google Shape;527;p38"/>
          <p:cNvSpPr txBox="1"/>
          <p:nvPr/>
        </p:nvSpPr>
        <p:spPr>
          <a:xfrm>
            <a:off x="594360" y="786384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Where to Go From Here</a:t>
            </a:r>
            <a:endParaRPr/>
          </a:p>
        </p:txBody>
      </p:sp>
      <p:pic>
        <p:nvPicPr>
          <p:cNvPr id="528" name="Google Shape;528;p38" descr="menu_book_gold_700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07040" y="59436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38"/>
          <p:cNvSpPr txBox="1"/>
          <p:nvPr/>
        </p:nvSpPr>
        <p:spPr>
          <a:xfrm>
            <a:off x="594360" y="647395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&amp; GitHub  |  Module 0: Foundations</a:t>
            </a:r>
            <a:endParaRPr/>
          </a:p>
        </p:txBody>
      </p:sp>
      <p:sp>
        <p:nvSpPr>
          <p:cNvPr id="530" name="Google Shape;530;p38"/>
          <p:cNvSpPr/>
          <p:nvPr/>
        </p:nvSpPr>
        <p:spPr>
          <a:xfrm>
            <a:off x="777240" y="1828800"/>
            <a:ext cx="5074920" cy="2971800"/>
          </a:xfrm>
          <a:prstGeom prst="roundRect">
            <a:avLst>
              <a:gd name="adj" fmla="val 16667"/>
            </a:avLst>
          </a:prstGeom>
          <a:solidFill>
            <a:srgbClr val="A6C2B4"/>
          </a:solidFill>
          <a:ln w="22850" cap="flat" cmpd="sng">
            <a:solidFill>
              <a:srgbClr val="26432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1" name="Google Shape;531;p38" descr="menu_book_gold_700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6695" y="204825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38"/>
          <p:cNvSpPr txBox="1"/>
          <p:nvPr/>
        </p:nvSpPr>
        <p:spPr>
          <a:xfrm>
            <a:off x="1636776" y="2029968"/>
            <a:ext cx="4014215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 Basics</a:t>
            </a:r>
            <a:endParaRPr/>
          </a:p>
        </p:txBody>
      </p:sp>
      <p:sp>
        <p:nvSpPr>
          <p:cNvPr id="533" name="Google Shape;533;p38"/>
          <p:cNvSpPr txBox="1"/>
          <p:nvPr/>
        </p:nvSpPr>
        <p:spPr>
          <a:xfrm>
            <a:off x="1033271" y="2606040"/>
            <a:ext cx="4562856" cy="203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Pro Git book, Ch. 2</a:t>
            </a:r>
            <a:br>
              <a:rPr lang="en-US" sz="22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22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2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DOCS · 15–20 min</a:t>
            </a:r>
            <a:br>
              <a:rPr lang="en-US" sz="22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22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2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Free canonical git reference.</a:t>
            </a:r>
            <a:endParaRPr/>
          </a:p>
        </p:txBody>
      </p:sp>
      <p:sp>
        <p:nvSpPr>
          <p:cNvPr id="534" name="Google Shape;534;p38"/>
          <p:cNvSpPr/>
          <p:nvPr/>
        </p:nvSpPr>
        <p:spPr>
          <a:xfrm>
            <a:off x="6263640" y="1828800"/>
            <a:ext cx="5074920" cy="2971800"/>
          </a:xfrm>
          <a:prstGeom prst="roundRect">
            <a:avLst>
              <a:gd name="adj" fmla="val 16667"/>
            </a:avLst>
          </a:prstGeom>
          <a:solidFill>
            <a:srgbClr val="DEEAF4"/>
          </a:solidFill>
          <a:ln w="22850" cap="flat" cmpd="sng">
            <a:solidFill>
              <a:srgbClr val="2274B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5" name="Google Shape;535;p38" descr="github_forest_900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83096" y="204825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38"/>
          <p:cNvSpPr txBox="1"/>
          <p:nvPr/>
        </p:nvSpPr>
        <p:spPr>
          <a:xfrm>
            <a:off x="7123175" y="2029968"/>
            <a:ext cx="401421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u="sng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Docs: Hello World</a:t>
            </a:r>
            <a:endParaRPr/>
          </a:p>
        </p:txBody>
      </p:sp>
      <p:sp>
        <p:nvSpPr>
          <p:cNvPr id="537" name="Google Shape;537;p38"/>
          <p:cNvSpPr txBox="1"/>
          <p:nvPr/>
        </p:nvSpPr>
        <p:spPr>
          <a:xfrm>
            <a:off x="6519672" y="2606040"/>
            <a:ext cx="4562856" cy="203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PRACTICE · 15 min</a:t>
            </a:r>
            <a:br>
              <a:rPr lang="en-US" sz="22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22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200" b="0">
                <a:solidFill>
                  <a:srgbClr val="261F1D"/>
                </a:solidFill>
                <a:latin typeface="Arial"/>
                <a:ea typeface="Arial"/>
                <a:cs typeface="Arial"/>
                <a:sym typeface="Arial"/>
              </a:rPr>
              <a:t>GitHub’s short guided first-repo walkthrough.</a:t>
            </a:r>
            <a:endParaRPr/>
          </a:p>
        </p:txBody>
      </p:sp>
      <p:sp>
        <p:nvSpPr>
          <p:cNvPr id="538" name="Google Shape;538;p38">
            <a:hlinkClick r:id="rId6"/>
          </p:cNvPr>
          <p:cNvSpPr/>
          <p:nvPr/>
        </p:nvSpPr>
        <p:spPr>
          <a:xfrm>
            <a:off x="777240" y="1828800"/>
            <a:ext cx="5074920" cy="2971800"/>
          </a:xfrm>
          <a:prstGeom prst="rect">
            <a:avLst/>
          </a:prstGeom>
          <a:noFill/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9" name="Google Shape;539;p38" descr="image1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814255" y="6400800"/>
            <a:ext cx="1806854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2033</Words>
  <Application>Microsoft Macintosh PowerPoint</Application>
  <PresentationFormat>Widescreen</PresentationFormat>
  <Paragraphs>207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Tina Lowry</cp:lastModifiedBy>
  <cp:revision>1</cp:revision>
  <dcterms:modified xsi:type="dcterms:W3CDTF">2026-09-30T18:22:17Z</dcterms:modified>
</cp:coreProperties>
</file>